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6629085ec24304" /><Relationship Type="http://schemas.openxmlformats.org/officeDocument/2006/relationships/extended-properties" Target="/docProps/app.xml" Id="R326600e6a6c1473e" /><Relationship Type="http://schemas.openxmlformats.org/officeDocument/2006/relationships/officeDocument" Target="/ppt/presentation.xml" Id="Ra1d3f3ab0c2e422a" /></Relationships>
</file>

<file path=ppt/presentation.xml><?xml version="1.0" encoding="utf-8"?>
<p:presentation xmlns:p="http://schemas.openxmlformats.org/presentationml/2006/main">
  <p:sldMasterIdLst>
    <p:sldMasterId xmlns:r="http://schemas.openxmlformats.org/officeDocument/2006/relationships" id="2147483648" r:id="R283f96e0dea24d73"/>
  </p:sldMasterIdLst>
  <p:notesMasterIdLst>
    <p:notesMasterId xmlns:r="http://schemas.openxmlformats.org/officeDocument/2006/relationships" r:id="R4e619d878d484238"/>
  </p:notesMasterIdLst>
  <p:sldIdLst>
    <p:sldId xmlns:r="http://schemas.openxmlformats.org/officeDocument/2006/relationships" id="256" r:id="Ra3d12e2cfd76486a"/>
    <p:sldId xmlns:r="http://schemas.openxmlformats.org/officeDocument/2006/relationships" id="257" r:id="R30c66d80ca254290"/>
    <p:sldId xmlns:r="http://schemas.openxmlformats.org/officeDocument/2006/relationships" id="258" r:id="Rf7b73209e1f74633"/>
    <p:sldId xmlns:r="http://schemas.openxmlformats.org/officeDocument/2006/relationships" id="259" r:id="R0fa587667b27462e"/>
    <p:sldId xmlns:r="http://schemas.openxmlformats.org/officeDocument/2006/relationships" id="260" r:id="R420b64e0ff0043bf"/>
    <p:sldId xmlns:r="http://schemas.openxmlformats.org/officeDocument/2006/relationships" id="261" r:id="R207009532f9145a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76bd61cdbb4cb5" /><Relationship Type="http://schemas.openxmlformats.org/officeDocument/2006/relationships/slideMaster" Target="/ppt/slideMasters/slideMaster1.xml" Id="R283f96e0dea24d73" /><Relationship Type="http://schemas.openxmlformats.org/officeDocument/2006/relationships/notesMaster" Target="/ppt/notesMasters/notesMaster1.xml" Id="R4e619d878d484238" /><Relationship Type="http://schemas.openxmlformats.org/officeDocument/2006/relationships/presProps" Target="/ppt/presProps.xml" Id="R762f2c7d8e5f4568" /><Relationship Type="http://schemas.openxmlformats.org/officeDocument/2006/relationships/tableStyles" Target="/ppt/tableStyles.xml" Id="R3317d7bf08ce4565" /><Relationship Type="http://schemas.openxmlformats.org/officeDocument/2006/relationships/slide" Target="/ppt/slides/slide1.xml" Id="Ra3d12e2cfd76486a" /><Relationship Type="http://schemas.openxmlformats.org/officeDocument/2006/relationships/slide" Target="/ppt/slides/slide2.xml" Id="R30c66d80ca254290" /><Relationship Type="http://schemas.openxmlformats.org/officeDocument/2006/relationships/slide" Target="/ppt/slides/slide3.xml" Id="Rf7b73209e1f74633" /><Relationship Type="http://schemas.openxmlformats.org/officeDocument/2006/relationships/slide" Target="/ppt/slides/slide4.xml" Id="R0fa587667b27462e" /><Relationship Type="http://schemas.openxmlformats.org/officeDocument/2006/relationships/slide" Target="/ppt/slides/slide5.xml" Id="R420b64e0ff0043bf" /><Relationship Type="http://schemas.openxmlformats.org/officeDocument/2006/relationships/slide" Target="/ppt/slides/slide6.xml" Id="R207009532f9145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d8c0cd93ca47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f929a30c2540cf" /><Relationship Type="http://schemas.openxmlformats.org/officeDocument/2006/relationships/notesMaster" Target="/ppt/notesMasters/notesMaster1.xml" Id="R60d89ff9345945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7782b707904471" /><Relationship Type="http://schemas.openxmlformats.org/officeDocument/2006/relationships/notesMaster" Target="/ppt/notesMasters/notesMaster1.xml" Id="R4a7b862af05c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437d37b2bf41ed" /><Relationship Type="http://schemas.openxmlformats.org/officeDocument/2006/relationships/notesMaster" Target="/ppt/notesMasters/notesMaster1.xml" Id="R332f5ec7f85343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a819fed2004eb7" /><Relationship Type="http://schemas.openxmlformats.org/officeDocument/2006/relationships/notesMaster" Target="/ppt/notesMasters/notesMaster1.xml" Id="R358a8985252241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82617a58fd42bd" /><Relationship Type="http://schemas.openxmlformats.org/officeDocument/2006/relationships/notesMaster" Target="/ppt/notesMasters/notesMaster1.xml" Id="R74f364bdeb364b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456f0056124205" /><Relationship Type="http://schemas.openxmlformats.org/officeDocument/2006/relationships/notesMaster" Target="/ppt/notesMasters/notesMaster1.xml" Id="R426ae6c8bcca4f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 Merhaba, bugün size Tracefold'u göstereceğim. Tracefold, yüklediğimiz belgeleri cihazdan çıkarmadan yanıtlayan ve her iddiayı açılabilir bir kaynakla ilişkilendiren yerel bir RAG uygulaması. Problem yalnızca akıcı bir cevap üretmek değil; cevabın hangi belgeye, bölüme ve metin parçasına dayandığını görünür kılmak. Bu yüzden sloganımız: Answers you can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0:40–1:20 — Klasik belge asistanlarında üç temel risk var: gizlilik, halüsinasyon ve denetlenebilirlik. Belge buluta gidebilir; model kaynakta olmayan bir bilgiyi ikna edici biçimde söyleyebilir; kullanıcı da dayanağı göremez. Tracefold bu üç riski birlikte ele alıyor. Embedding ve cevap modeli Microsoft Foundry Local üzerinden cihazda çalışıyor. Kanıt zayıfsa cevap üretmek yerine standart refusal mesajını döndürüyor; kanıt yeterliyse citation'a tıklayıp gerçek pasajı açabiliyoruz.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1:20–2:15 — Akış belge yüklemeyle başlıyor. FastAPI; PDF, DOCX, Markdown ve metin dosyalarını ayrıştırıyor, başlık ve sayfa bilgisini koruyarak yaklaşık 240 tokenlık bölüm-güvenli parçalara bölüyor. Foundry Local embedding modeli her parçayı vektöre çeviriyor; metin, metadata ve Float32 vektörler SQLite'ta saklanıyor. Soruda cosine similarity ile en yakın beş parça seçiliyor. Sabit abstention eşiği generation'dan önce kanıtı değerlendiriyor. Yeterliyse yerel chat modeli yalnızca bu pasajlarla yanıtlıyor ve citation kimlikleri doğrulanıyor. Tüm sorgu yolu localhost içinde kalıyor.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2:15–3:15 — Demo için Northstar Summer Lab adlı tamamen kurmaca programa ait sekiz belge hazırladım. Şu soruyu soruyorum: Kampüse saat 20:00'den sonra ulaşacağım; ne yapmalıyım ve kime ulaşmalıyım? Tam cevap için geç giriş kuralını ve doğru iletişim bilgisini birleştirmek gerekiyor. Tracefold, Residence Duty Phone'u 19:30'dan önce aramamı ve Program Office'e yeni varış saatini bildirmemi söylüyor. Citation panelini açtığımda kullanılan dosyayı, chunk kimliğini, benzerlik skorunu ve modelin gördüğü tam pasajı inceleyebiliyorum.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3:15–4:15 — Kaliteyi yalnızca cevap iyi görünüyor diye değerlendirmiyoruz. Sekizi cevaplanabilir, dördü bilinçli olarak cevaplanamaz on iki soruluk eval seti var. Retrieval Hit@5, beklenen kaynak kapsamı, citation geçerliliği, olgu kapsaması ve negatif sorulardaki doğru refusal oranını ölçüyoruz. Hedefleri sonuç gibi göstermiyoruz; yalnızca gerçek Foundry Local koşusu model, donanım ve konfigürasyonla birlikte measured olarak sunuluyor. Son release koşusunda 12 vakanın 12'si geçti; Hit@5, kaynak kapsamı, citation geçerliliği ve refusal yüzde yüz, warm retrieval p95 ise 95.56 milisaniye.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 Tracefold, istenen yerel RAG zincirinin tamamını çalışır bir ürün deneyimine dönüştürüyor: belge alma, chunking, yerel embedding, SQLite vektör saklama, cosine retrieval, kaynaklı generation, deterministic abstention, eval ve çevrimdışı çalışma. Bunun üzerine kullanıcıya gerçek kanıtı açan citation deneyimi, model sorunlarını gizlemeyen runtime görünürlüğü ve hedeflerle ölçülmüş sonuçları ayıran Quality ekranını ekliyor. Kısacası yalnızca offline bir chatbot değil; özel belgeler üzerinde, test edilebilen ve bilmediği yerde durabilen güvenilir bir cevap katmanı.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36a5b27b584c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f1bf5bb44e4e67" /><Relationship Type="http://schemas.openxmlformats.org/officeDocument/2006/relationships/slideLayout" Target="/ppt/slideLayouts/slideLayout1.xml" Id="R3491160e79f54b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91160e79f54b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fa5c665f56458d" /><Relationship Type="http://schemas.openxmlformats.org/officeDocument/2006/relationships/image" Target="/ppt/media/image.png" Id="R9a1a7abc74ea469c" /><Relationship Type="http://schemas.openxmlformats.org/officeDocument/2006/relationships/notesSlide" Target="/ppt/notesSlides/notesSlide1.xml" Id="R524d97c12c4142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9a344b5f3643a7" /><Relationship Type="http://schemas.openxmlformats.org/officeDocument/2006/relationships/notesSlide" Target="/ppt/notesSlides/notesSlide2.xml" Id="R02592e05e7014a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a3b1778f5f142dd" /><Relationship Type="http://schemas.openxmlformats.org/officeDocument/2006/relationships/notesSlide" Target="/ppt/notesSlides/notesSlide3.xml" Id="R134d56890e6c45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cba057b8014079" /><Relationship Type="http://schemas.openxmlformats.org/officeDocument/2006/relationships/image" Target="/ppt/media/image2.png" Id="R41be8ef556054616" /><Relationship Type="http://schemas.openxmlformats.org/officeDocument/2006/relationships/image" Target="/ppt/media/image3.png" Id="Rf4277344d8654b83" /><Relationship Type="http://schemas.openxmlformats.org/officeDocument/2006/relationships/notesSlide" Target="/ppt/notesSlides/notesSlide4.xml" Id="R5cf215ce6d2847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c51712e23c42b8" /><Relationship Type="http://schemas.openxmlformats.org/officeDocument/2006/relationships/image" Target="/ppt/media/image4.png" Id="Rd75e259a600d4378" /><Relationship Type="http://schemas.openxmlformats.org/officeDocument/2006/relationships/notesSlide" Target="/ppt/notesSlides/notesSlide5.xml" Id="R4ee56aab7d924b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78eb1afafc941aa" /><Relationship Type="http://schemas.openxmlformats.org/officeDocument/2006/relationships/image" Target="/ppt/media/image5.png" Id="R12bb7ea7d83d4c60" /><Relationship Type="http://schemas.openxmlformats.org/officeDocument/2006/relationships/notesSlide" Target="/ppt/notesSlides/notesSlide6.xml" Id="Rdc191be03d974de2" /></Relationships>
</file>

<file path=ppt/slides/slide1.xml><?xml version="1.0" encoding="utf-8"?>
<p:sld xmlns:p="http://schemas.openxmlformats.org/presentationml/2006/main">
  <p:cSld>
    <p:bg>
      <p:bgPr>
        <a:solidFill xmlns:a="http://schemas.openxmlformats.org/drawingml/2006/main">
          <a:srgbClr val="08171A"/>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a1a7abc74ea469c"/>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04449628"/>
      </p:ext>
    </p:extLst>
  </p:cSld>
</p:sld>
</file>

<file path=ppt/slides/slide2.xml><?xml version="1.0" encoding="utf-8"?>
<p:sld xmlns:p="http://schemas.openxmlformats.org/presentationml/2006/main">
  <p:cSld>
    <p:bg>
      <p:bgPr>
        <a:solidFill xmlns:a="http://schemas.openxmlformats.org/drawingml/2006/main">
          <a:srgbClr val="08171A"/>
        </a:solidFill>
      </p:bgPr>
    </p:bg>
    <p:spTree>
      <p:nvGrpSpPr>
        <p:cNvPr id="1" name=""/>
        <p:cNvGrpSpPr/>
        <p:nvPr/>
      </p:nvGrpSpPr>
      <p:grpSpPr>
        <a:xfrm xmlns:a="http://schemas.openxmlformats.org/drawingml/2006/main"/>
      </p:grpSpPr>
      <p:sp>
        <p:nvSpPr>
          <p:cNvPr id="22" name="brand-2">
            <a:extLst xmlns:a="http://schemas.openxmlformats.org/drawingml/2006/main">
              <a:ext uri="{FF2B5EF4-FFF2-40B4-BE49-F238E27FC236}">
                <a16:creationId xmlns:a16="http://schemas.microsoft.com/office/drawing/2014/main" id="{211BCE69-1437-4B27-A6BB-7A12176C8954}"/>
              </a:ext>
            </a:extLst>
          </p:cNvPr>
          <p:cNvSpPr>
            <a:spLocks xmlns:a="http://schemas.openxmlformats.org/drawingml/2006/main" noGrp="1"/>
          </p:cNvSpPr>
          <p:nvPr/>
        </p:nvSpPr>
        <p:spPr>
          <a:xfrm xmlns:a="http://schemas.openxmlformats.org/drawingml/2006/main">
            <a:off x="685800" y="266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4F0E8"/>
                </a:solidFill>
                <a:latin typeface="Avenir Next"/>
                <a:ea typeface="Avenir Next"/>
                <a:cs typeface="Avenir Next"/>
              </a:defRPr>
            </a:pPr>
            <a:r>
              <a:rPr sz="1200" b="1" i="0">
                <a:solidFill>
                  <a:srgbClr val="F4F0E8"/>
                </a:solidFill>
                <a:latin typeface="Avenir Next"/>
                <a:ea typeface="Avenir Next"/>
                <a:cs typeface="Avenir Next"/>
              </a:rPr>
              <a:t>TRACEFOLD</a:t>
            </a:r>
          </a:p>
        </p:txBody>
      </p:sp>
      <p:sp>
        <p:nvSpPr>
          <p:cNvPr id="2" name="fold-mark-a-2">
            <a:extLst xmlns:a="http://schemas.openxmlformats.org/drawingml/2006/main">
              <a:ext uri="{FF2B5EF4-FFF2-40B4-BE49-F238E27FC236}">
                <a16:creationId xmlns:a16="http://schemas.microsoft.com/office/drawing/2014/main" id="{510C358D-1F73-48CB-8F69-B6F7FF1B57E8}"/>
              </a:ext>
            </a:extLst>
          </p:cNvPr>
          <p:cNvSpPr>
            <a:spLocks xmlns:a="http://schemas.openxmlformats.org/drawingml/2006/main" noGrp="1"/>
          </p:cNvSpPr>
          <p:nvPr/>
        </p:nvSpPr>
        <p:spPr>
          <a:xfrm xmlns:a="http://schemas.openxmlformats.org/drawingml/2006/main" rot="5400000">
            <a:off x="457200" y="2571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3" name="fold-mark-b-2">
            <a:extLst xmlns:a="http://schemas.openxmlformats.org/drawingml/2006/main">
              <a:ext uri="{FF2B5EF4-FFF2-40B4-BE49-F238E27FC236}">
                <a16:creationId xmlns:a16="http://schemas.microsoft.com/office/drawing/2014/main" id="{3D4B5F48-608F-4797-B932-01E9AA6919C2}"/>
              </a:ext>
            </a:extLst>
          </p:cNvPr>
          <p:cNvSpPr>
            <a:spLocks xmlns:a="http://schemas.openxmlformats.org/drawingml/2006/main" noGrp="1"/>
          </p:cNvSpPr>
          <p:nvPr/>
        </p:nvSpPr>
        <p:spPr>
          <a:xfrm xmlns:a="http://schemas.openxmlformats.org/drawingml/2006/main" rot="16200000">
            <a:off x="457200" y="3714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4" name="page-2">
            <a:extLst xmlns:a="http://schemas.openxmlformats.org/drawingml/2006/main">
              <a:ext uri="{FF2B5EF4-FFF2-40B4-BE49-F238E27FC236}">
                <a16:creationId xmlns:a16="http://schemas.microsoft.com/office/drawing/2014/main" id="{11FCED62-CDF7-40FA-8B34-BFF5BCE83AE4}"/>
              </a:ext>
            </a:extLst>
          </p:cNvPr>
          <p:cNvSpPr>
            <a:spLocks xmlns:a="http://schemas.openxmlformats.org/drawingml/2006/main" noGrp="1"/>
          </p:cNvSpPr>
          <p:nvPr/>
        </p:nvSpPr>
        <p:spPr>
          <a:xfrm xmlns:a="http://schemas.openxmlformats.org/drawingml/2006/main">
            <a:off x="11239500" y="276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02</a:t>
            </a:r>
          </a:p>
        </p:txBody>
      </p:sp>
      <p:sp>
        <p:nvSpPr>
          <p:cNvPr id="5" name="s2-eyebrow">
            <a:extLst xmlns:a="http://schemas.openxmlformats.org/drawingml/2006/main">
              <a:ext uri="{FF2B5EF4-FFF2-40B4-BE49-F238E27FC236}">
                <a16:creationId xmlns:a16="http://schemas.microsoft.com/office/drawing/2014/main" id="{E48CC748-B39F-4FD3-B164-7B5D8CBE6AB8}"/>
              </a:ext>
            </a:extLst>
          </p:cNvPr>
          <p:cNvSpPr>
            <a:spLocks xmlns:a="http://schemas.openxmlformats.org/drawingml/2006/main" noGrp="1"/>
          </p:cNvSpPr>
          <p:nvPr/>
        </p:nvSpPr>
        <p:spPr>
          <a:xfrm xmlns:a="http://schemas.openxmlformats.org/drawingml/2006/main">
            <a:off x="685800" y="8191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THE TRUST GAP</a:t>
            </a:r>
          </a:p>
        </p:txBody>
      </p:sp>
      <p:sp>
        <p:nvSpPr>
          <p:cNvPr id="6" name="s2-title">
            <a:extLst xmlns:a="http://schemas.openxmlformats.org/drawingml/2006/main">
              <a:ext uri="{FF2B5EF4-FFF2-40B4-BE49-F238E27FC236}">
                <a16:creationId xmlns:a16="http://schemas.microsoft.com/office/drawing/2014/main" id="{396C5A2D-6BBC-4F49-BCA0-5207EA3DCE2F}"/>
              </a:ext>
            </a:extLst>
          </p:cNvPr>
          <p:cNvSpPr>
            <a:spLocks xmlns:a="http://schemas.openxmlformats.org/drawingml/2006/main" noGrp="1"/>
          </p:cNvSpPr>
          <p:nvPr/>
        </p:nvSpPr>
        <p:spPr>
          <a:xfrm xmlns:a="http://schemas.openxmlformats.org/drawingml/2006/main">
            <a:off x="685800" y="1123950"/>
            <a:ext cx="8858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900" b="0" i="0">
                <a:solidFill>
                  <a:srgbClr val="F4F0E8"/>
                </a:solidFill>
                <a:latin typeface="Georgia"/>
                <a:ea typeface="Georgia"/>
                <a:cs typeface="Georgia"/>
              </a:defRPr>
            </a:pPr>
            <a:r>
              <a:rPr sz="3900" b="0" i="0">
                <a:solidFill>
                  <a:srgbClr val="F4F0E8"/>
                </a:solidFill>
                <a:latin typeface="Georgia"/>
                <a:ea typeface="Georgia"/>
                <a:cs typeface="Georgia"/>
              </a:rPr>
              <a:t>Private documents deserve</a:t>
            </a:r>
          </a:p>
          <a:p xmlns:a="http://schemas.openxmlformats.org/drawingml/2006/main">
            <a:pPr algn="l">
              <a:lnSpc>
                <a:spcPct val="90000"/>
              </a:lnSpc>
              <a:buNone/>
              <a:defRPr sz="3900" b="0" i="0">
                <a:solidFill>
                  <a:srgbClr val="F4F0E8"/>
                </a:solidFill>
                <a:latin typeface="Georgia"/>
                <a:ea typeface="Georgia"/>
                <a:cs typeface="Georgia"/>
              </a:defRPr>
            </a:pPr>
            <a:r>
              <a:rPr sz="3900" b="0" i="0">
                <a:solidFill>
                  <a:srgbClr val="F4F0E8"/>
                </a:solidFill>
                <a:latin typeface="Georgia"/>
                <a:ea typeface="Georgia"/>
                <a:cs typeface="Georgia"/>
              </a:rPr>
              <a:t>verifiable answers.</a:t>
            </a:r>
          </a:p>
        </p:txBody>
      </p:sp>
      <p:sp>
        <p:nvSpPr>
          <p:cNvPr id="7" name="s2-subtitle">
            <a:extLst xmlns:a="http://schemas.openxmlformats.org/drawingml/2006/main">
              <a:ext uri="{FF2B5EF4-FFF2-40B4-BE49-F238E27FC236}">
                <a16:creationId xmlns:a16="http://schemas.microsoft.com/office/drawing/2014/main" id="{79C98CB0-2F11-4E58-81FE-5A358466EBC0}"/>
              </a:ext>
            </a:extLst>
          </p:cNvPr>
          <p:cNvSpPr>
            <a:spLocks xmlns:a="http://schemas.openxmlformats.org/drawingml/2006/main" noGrp="1"/>
          </p:cNvSpPr>
          <p:nvPr/>
        </p:nvSpPr>
        <p:spPr>
          <a:xfrm xmlns:a="http://schemas.openxmlformats.org/drawingml/2006/main">
            <a:off x="685800" y="2457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0" i="0">
                <a:solidFill>
                  <a:srgbClr val="AEB18A"/>
                </a:solidFill>
                <a:latin typeface="Avenir Next"/>
                <a:ea typeface="Avenir Next"/>
                <a:cs typeface="Avenir Next"/>
              </a:defRPr>
            </a:pPr>
            <a:r>
              <a:rPr sz="1500" b="0" i="0">
                <a:solidFill>
                  <a:srgbClr val="AEB18A"/>
                </a:solidFill>
                <a:latin typeface="Avenir Next"/>
                <a:ea typeface="Avenir Next"/>
                <a:cs typeface="Avenir Next"/>
              </a:rPr>
              <a:t>A conventional document assistant can fail in three ways at once.</a:t>
            </a:r>
          </a:p>
        </p:txBody>
      </p:sp>
      <p:sp>
        <p:nvSpPr>
          <p:cNvPr id="8" name="s2-rule-0">
            <a:extLst xmlns:a="http://schemas.openxmlformats.org/drawingml/2006/main">
              <a:ext uri="{FF2B5EF4-FFF2-40B4-BE49-F238E27FC236}">
                <a16:creationId xmlns:a16="http://schemas.microsoft.com/office/drawing/2014/main" id="{67E316E3-AD25-4DA4-BB3F-B36BA218ACCB}"/>
              </a:ext>
            </a:extLst>
          </p:cNvPr>
          <p:cNvSpPr>
            <a:spLocks xmlns:a="http://schemas.openxmlformats.org/drawingml/2006/main" noGrp="1"/>
          </p:cNvSpPr>
          <p:nvPr/>
        </p:nvSpPr>
        <p:spPr>
          <a:xfrm xmlns:a="http://schemas.openxmlformats.org/drawingml/2006/main">
            <a:off x="685800" y="3219450"/>
            <a:ext cx="2857500" cy="19050"/>
          </a:xfrm>
          <a:prstGeom xmlns:a="http://schemas.openxmlformats.org/drawingml/2006/main" prst="rect">
            <a:avLst/>
          </a:prstGeom>
          <a:solidFill xmlns:a="http://schemas.openxmlformats.org/drawingml/2006/main">
            <a:srgbClr val="385054"/>
          </a:solidFill>
          <a:ln xmlns:a="http://schemas.openxmlformats.org/drawingml/2006/main" w="0">
            <a:noFill/>
            <a:prstDash val="solid"/>
          </a:ln>
        </p:spPr>
      </p:sp>
      <p:sp>
        <p:nvSpPr>
          <p:cNvPr id="9" name="s2-num-0">
            <a:extLst xmlns:a="http://schemas.openxmlformats.org/drawingml/2006/main">
              <a:ext uri="{FF2B5EF4-FFF2-40B4-BE49-F238E27FC236}">
                <a16:creationId xmlns:a16="http://schemas.microsoft.com/office/drawing/2014/main" id="{23E40646-5727-4C62-A1F2-0561895526FE}"/>
              </a:ext>
            </a:extLst>
          </p:cNvPr>
          <p:cNvSpPr>
            <a:spLocks xmlns:a="http://schemas.openxmlformats.org/drawingml/2006/main" noGrp="1"/>
          </p:cNvSpPr>
          <p:nvPr/>
        </p:nvSpPr>
        <p:spPr>
          <a:xfrm xmlns:a="http://schemas.openxmlformats.org/drawingml/2006/main">
            <a:off x="685800" y="3429000"/>
            <a:ext cx="59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0" i="0">
                <a:solidFill>
                  <a:srgbClr val="CF7440"/>
                </a:solidFill>
                <a:latin typeface="Georgia"/>
                <a:ea typeface="Georgia"/>
                <a:cs typeface="Georgia"/>
              </a:defRPr>
            </a:pPr>
            <a:r>
              <a:rPr sz="3300" b="0" i="0">
                <a:solidFill>
                  <a:srgbClr val="CF7440"/>
                </a:solidFill>
                <a:latin typeface="Georgia"/>
                <a:ea typeface="Georgia"/>
                <a:cs typeface="Georgia"/>
              </a:rPr>
              <a:t>01</a:t>
            </a:r>
          </a:p>
        </p:txBody>
      </p:sp>
      <p:sp>
        <p:nvSpPr>
          <p:cNvPr id="10" name="s2-head-0">
            <a:extLst xmlns:a="http://schemas.openxmlformats.org/drawingml/2006/main">
              <a:ext uri="{FF2B5EF4-FFF2-40B4-BE49-F238E27FC236}">
                <a16:creationId xmlns:a16="http://schemas.microsoft.com/office/drawing/2014/main" id="{0E529DB1-B6B7-48F8-B1F9-E13C6FD2A641}"/>
              </a:ext>
            </a:extLst>
          </p:cNvPr>
          <p:cNvSpPr>
            <a:spLocks xmlns:a="http://schemas.openxmlformats.org/drawingml/2006/main" noGrp="1"/>
          </p:cNvSpPr>
          <p:nvPr/>
        </p:nvSpPr>
        <p:spPr>
          <a:xfrm xmlns:a="http://schemas.openxmlformats.org/drawingml/2006/main">
            <a:off x="1428750" y="3476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i="0">
                <a:solidFill>
                  <a:srgbClr val="F4F0E8"/>
                </a:solidFill>
                <a:latin typeface="Avenir Next"/>
                <a:ea typeface="Avenir Next"/>
                <a:cs typeface="Avenir Next"/>
              </a:defRPr>
            </a:pPr>
            <a:r>
              <a:rPr sz="1800" b="1" i="0">
                <a:solidFill>
                  <a:srgbClr val="F4F0E8"/>
                </a:solidFill>
                <a:latin typeface="Avenir Next"/>
                <a:ea typeface="Avenir Next"/>
                <a:cs typeface="Avenir Next"/>
              </a:rPr>
              <a:t>PRIVATE</a:t>
            </a:r>
          </a:p>
        </p:txBody>
      </p:sp>
      <p:sp>
        <p:nvSpPr>
          <p:cNvPr id="11" name="s2-body-0">
            <a:extLst xmlns:a="http://schemas.openxmlformats.org/drawingml/2006/main">
              <a:ext uri="{FF2B5EF4-FFF2-40B4-BE49-F238E27FC236}">
                <a16:creationId xmlns:a16="http://schemas.microsoft.com/office/drawing/2014/main" id="{A643883F-8467-4C69-8995-0FBE89EA84B3}"/>
              </a:ext>
            </a:extLst>
          </p:cNvPr>
          <p:cNvSpPr>
            <a:spLocks xmlns:a="http://schemas.openxmlformats.org/drawingml/2006/main" noGrp="1"/>
          </p:cNvSpPr>
          <p:nvPr/>
        </p:nvSpPr>
        <p:spPr>
          <a:xfrm xmlns:a="http://schemas.openxmlformats.org/drawingml/2006/main">
            <a:off x="1428750" y="3848100"/>
            <a:ext cx="2114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Files and prompts can leave the device.</a:t>
            </a:r>
          </a:p>
        </p:txBody>
      </p:sp>
      <p:sp>
        <p:nvSpPr>
          <p:cNvPr id="12" name="s2-rule-1">
            <a:extLst xmlns:a="http://schemas.openxmlformats.org/drawingml/2006/main">
              <a:ext uri="{FF2B5EF4-FFF2-40B4-BE49-F238E27FC236}">
                <a16:creationId xmlns:a16="http://schemas.microsoft.com/office/drawing/2014/main" id="{240FD57E-27EC-4B46-B9C4-0513B6ED5F16}"/>
              </a:ext>
            </a:extLst>
          </p:cNvPr>
          <p:cNvSpPr>
            <a:spLocks xmlns:a="http://schemas.openxmlformats.org/drawingml/2006/main" noGrp="1"/>
          </p:cNvSpPr>
          <p:nvPr/>
        </p:nvSpPr>
        <p:spPr>
          <a:xfrm xmlns:a="http://schemas.openxmlformats.org/drawingml/2006/main">
            <a:off x="4438650" y="3219450"/>
            <a:ext cx="2857500" cy="19050"/>
          </a:xfrm>
          <a:prstGeom xmlns:a="http://schemas.openxmlformats.org/drawingml/2006/main" prst="rect">
            <a:avLst/>
          </a:prstGeom>
          <a:solidFill xmlns:a="http://schemas.openxmlformats.org/drawingml/2006/main">
            <a:srgbClr val="385054"/>
          </a:solidFill>
          <a:ln xmlns:a="http://schemas.openxmlformats.org/drawingml/2006/main" w="0">
            <a:noFill/>
            <a:prstDash val="solid"/>
          </a:ln>
        </p:spPr>
      </p:sp>
      <p:sp>
        <p:nvSpPr>
          <p:cNvPr id="13" name="s2-num-1">
            <a:extLst xmlns:a="http://schemas.openxmlformats.org/drawingml/2006/main">
              <a:ext uri="{FF2B5EF4-FFF2-40B4-BE49-F238E27FC236}">
                <a16:creationId xmlns:a16="http://schemas.microsoft.com/office/drawing/2014/main" id="{DD9CB592-D3A6-47F3-8D0D-00AED40F090B}"/>
              </a:ext>
            </a:extLst>
          </p:cNvPr>
          <p:cNvSpPr>
            <a:spLocks xmlns:a="http://schemas.openxmlformats.org/drawingml/2006/main" noGrp="1"/>
          </p:cNvSpPr>
          <p:nvPr/>
        </p:nvSpPr>
        <p:spPr>
          <a:xfrm xmlns:a="http://schemas.openxmlformats.org/drawingml/2006/main">
            <a:off x="4438650" y="3429000"/>
            <a:ext cx="59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0" i="0">
                <a:solidFill>
                  <a:srgbClr val="CF7440"/>
                </a:solidFill>
                <a:latin typeface="Georgia"/>
                <a:ea typeface="Georgia"/>
                <a:cs typeface="Georgia"/>
              </a:defRPr>
            </a:pPr>
            <a:r>
              <a:rPr sz="3300" b="0" i="0">
                <a:solidFill>
                  <a:srgbClr val="CF7440"/>
                </a:solidFill>
                <a:latin typeface="Georgia"/>
                <a:ea typeface="Georgia"/>
                <a:cs typeface="Georgia"/>
              </a:rPr>
              <a:t>02</a:t>
            </a:r>
          </a:p>
        </p:txBody>
      </p:sp>
      <p:sp>
        <p:nvSpPr>
          <p:cNvPr id="14" name="s2-head-1">
            <a:extLst xmlns:a="http://schemas.openxmlformats.org/drawingml/2006/main">
              <a:ext uri="{FF2B5EF4-FFF2-40B4-BE49-F238E27FC236}">
                <a16:creationId xmlns:a16="http://schemas.microsoft.com/office/drawing/2014/main" id="{55487400-61CB-437D-A202-E02620EC4950}"/>
              </a:ext>
            </a:extLst>
          </p:cNvPr>
          <p:cNvSpPr>
            <a:spLocks xmlns:a="http://schemas.openxmlformats.org/drawingml/2006/main" noGrp="1"/>
          </p:cNvSpPr>
          <p:nvPr/>
        </p:nvSpPr>
        <p:spPr>
          <a:xfrm xmlns:a="http://schemas.openxmlformats.org/drawingml/2006/main">
            <a:off x="5181600" y="3476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i="0">
                <a:solidFill>
                  <a:srgbClr val="F4F0E8"/>
                </a:solidFill>
                <a:latin typeface="Avenir Next"/>
                <a:ea typeface="Avenir Next"/>
                <a:cs typeface="Avenir Next"/>
              </a:defRPr>
            </a:pPr>
            <a:r>
              <a:rPr sz="1800" b="1" i="0">
                <a:solidFill>
                  <a:srgbClr val="F4F0E8"/>
                </a:solidFill>
                <a:latin typeface="Avenir Next"/>
                <a:ea typeface="Avenir Next"/>
                <a:cs typeface="Avenir Next"/>
              </a:rPr>
              <a:t>PLAUSIBLE</a:t>
            </a:r>
          </a:p>
        </p:txBody>
      </p:sp>
      <p:sp>
        <p:nvSpPr>
          <p:cNvPr id="15" name="s2-body-1">
            <a:extLst xmlns:a="http://schemas.openxmlformats.org/drawingml/2006/main">
              <a:ext uri="{FF2B5EF4-FFF2-40B4-BE49-F238E27FC236}">
                <a16:creationId xmlns:a16="http://schemas.microsoft.com/office/drawing/2014/main" id="{50DD3E5A-4FA1-49BF-918B-978523B41B5E}"/>
              </a:ext>
            </a:extLst>
          </p:cNvPr>
          <p:cNvSpPr>
            <a:spLocks xmlns:a="http://schemas.openxmlformats.org/drawingml/2006/main" noGrp="1"/>
          </p:cNvSpPr>
          <p:nvPr/>
        </p:nvSpPr>
        <p:spPr>
          <a:xfrm xmlns:a="http://schemas.openxmlformats.org/drawingml/2006/main">
            <a:off x="5181600" y="3848100"/>
            <a:ext cx="2114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Unsupported claims can still sound convincing.</a:t>
            </a:r>
          </a:p>
        </p:txBody>
      </p:sp>
      <p:sp>
        <p:nvSpPr>
          <p:cNvPr id="16" name="s2-rule-2">
            <a:extLst xmlns:a="http://schemas.openxmlformats.org/drawingml/2006/main">
              <a:ext uri="{FF2B5EF4-FFF2-40B4-BE49-F238E27FC236}">
                <a16:creationId xmlns:a16="http://schemas.microsoft.com/office/drawing/2014/main" id="{5E019375-2358-478C-B8C2-F64EA53C82E3}"/>
              </a:ext>
            </a:extLst>
          </p:cNvPr>
          <p:cNvSpPr>
            <a:spLocks xmlns:a="http://schemas.openxmlformats.org/drawingml/2006/main" noGrp="1"/>
          </p:cNvSpPr>
          <p:nvPr/>
        </p:nvSpPr>
        <p:spPr>
          <a:xfrm xmlns:a="http://schemas.openxmlformats.org/drawingml/2006/main">
            <a:off x="8191500" y="3219450"/>
            <a:ext cx="2857500" cy="19050"/>
          </a:xfrm>
          <a:prstGeom xmlns:a="http://schemas.openxmlformats.org/drawingml/2006/main" prst="rect">
            <a:avLst/>
          </a:prstGeom>
          <a:solidFill xmlns:a="http://schemas.openxmlformats.org/drawingml/2006/main">
            <a:srgbClr val="CF7440"/>
          </a:solidFill>
          <a:ln xmlns:a="http://schemas.openxmlformats.org/drawingml/2006/main" w="0">
            <a:noFill/>
            <a:prstDash val="solid"/>
          </a:ln>
        </p:spPr>
      </p:sp>
      <p:sp>
        <p:nvSpPr>
          <p:cNvPr id="17" name="s2-num-2">
            <a:extLst xmlns:a="http://schemas.openxmlformats.org/drawingml/2006/main">
              <a:ext uri="{FF2B5EF4-FFF2-40B4-BE49-F238E27FC236}">
                <a16:creationId xmlns:a16="http://schemas.microsoft.com/office/drawing/2014/main" id="{D62047BA-327B-43A5-99D0-CDF6D2AFB967}"/>
              </a:ext>
            </a:extLst>
          </p:cNvPr>
          <p:cNvSpPr>
            <a:spLocks xmlns:a="http://schemas.openxmlformats.org/drawingml/2006/main" noGrp="1"/>
          </p:cNvSpPr>
          <p:nvPr/>
        </p:nvSpPr>
        <p:spPr>
          <a:xfrm xmlns:a="http://schemas.openxmlformats.org/drawingml/2006/main">
            <a:off x="8191500" y="3429000"/>
            <a:ext cx="59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0" i="0">
                <a:solidFill>
                  <a:srgbClr val="CF7440"/>
                </a:solidFill>
                <a:latin typeface="Georgia"/>
                <a:ea typeface="Georgia"/>
                <a:cs typeface="Georgia"/>
              </a:defRPr>
            </a:pPr>
            <a:r>
              <a:rPr sz="3300" b="0" i="0">
                <a:solidFill>
                  <a:srgbClr val="CF7440"/>
                </a:solidFill>
                <a:latin typeface="Georgia"/>
                <a:ea typeface="Georgia"/>
                <a:cs typeface="Georgia"/>
              </a:rPr>
              <a:t>03</a:t>
            </a:r>
          </a:p>
        </p:txBody>
      </p:sp>
      <p:sp>
        <p:nvSpPr>
          <p:cNvPr id="18" name="s2-head-2">
            <a:extLst xmlns:a="http://schemas.openxmlformats.org/drawingml/2006/main">
              <a:ext uri="{FF2B5EF4-FFF2-40B4-BE49-F238E27FC236}">
                <a16:creationId xmlns:a16="http://schemas.microsoft.com/office/drawing/2014/main" id="{0AB3B427-5D53-4329-B341-CA6D35361C7F}"/>
              </a:ext>
            </a:extLst>
          </p:cNvPr>
          <p:cNvSpPr>
            <a:spLocks xmlns:a="http://schemas.openxmlformats.org/drawingml/2006/main" noGrp="1"/>
          </p:cNvSpPr>
          <p:nvPr/>
        </p:nvSpPr>
        <p:spPr>
          <a:xfrm xmlns:a="http://schemas.openxmlformats.org/drawingml/2006/main">
            <a:off x="8934450" y="347662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i="0">
                <a:solidFill>
                  <a:srgbClr val="F4F0E8"/>
                </a:solidFill>
                <a:latin typeface="Avenir Next"/>
                <a:ea typeface="Avenir Next"/>
                <a:cs typeface="Avenir Next"/>
              </a:defRPr>
            </a:pPr>
            <a:r>
              <a:rPr sz="1800" b="1" i="0">
                <a:solidFill>
                  <a:srgbClr val="F4F0E8"/>
                </a:solidFill>
                <a:latin typeface="Avenir Next"/>
                <a:ea typeface="Avenir Next"/>
                <a:cs typeface="Avenir Next"/>
              </a:rPr>
              <a:t>OPAQUE</a:t>
            </a:r>
          </a:p>
        </p:txBody>
      </p:sp>
      <p:sp>
        <p:nvSpPr>
          <p:cNvPr id="19" name="s2-body-2">
            <a:extLst xmlns:a="http://schemas.openxmlformats.org/drawingml/2006/main">
              <a:ext uri="{FF2B5EF4-FFF2-40B4-BE49-F238E27FC236}">
                <a16:creationId xmlns:a16="http://schemas.microsoft.com/office/drawing/2014/main" id="{97EAA191-C236-4DA1-B58C-F432CF35ED2B}"/>
              </a:ext>
            </a:extLst>
          </p:cNvPr>
          <p:cNvSpPr>
            <a:spLocks xmlns:a="http://schemas.openxmlformats.org/drawingml/2006/main" noGrp="1"/>
          </p:cNvSpPr>
          <p:nvPr/>
        </p:nvSpPr>
        <p:spPr>
          <a:xfrm xmlns:a="http://schemas.openxmlformats.org/drawingml/2006/main">
            <a:off x="8934450" y="3848100"/>
            <a:ext cx="2114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Users cannot inspect the proof behind an answer.</a:t>
            </a:r>
          </a:p>
        </p:txBody>
      </p:sp>
      <p:sp>
        <p:nvSpPr>
          <p:cNvPr id="20" name="s2-bottom-rule">
            <a:extLst xmlns:a="http://schemas.openxmlformats.org/drawingml/2006/main">
              <a:ext uri="{FF2B5EF4-FFF2-40B4-BE49-F238E27FC236}">
                <a16:creationId xmlns:a16="http://schemas.microsoft.com/office/drawing/2014/main" id="{B40C4EAB-EE5D-492D-8EDC-263EFF69595A}"/>
              </a:ext>
            </a:extLst>
          </p:cNvPr>
          <p:cNvSpPr>
            <a:spLocks xmlns:a="http://schemas.openxmlformats.org/drawingml/2006/main" noGrp="1"/>
          </p:cNvSpPr>
          <p:nvPr/>
        </p:nvSpPr>
        <p:spPr>
          <a:xfrm xmlns:a="http://schemas.openxmlformats.org/drawingml/2006/main">
            <a:off x="685800" y="5334000"/>
            <a:ext cx="10820400" cy="28575"/>
          </a:xfrm>
          <a:prstGeom xmlns:a="http://schemas.openxmlformats.org/drawingml/2006/main" prst="rect">
            <a:avLst/>
          </a:prstGeom>
          <a:solidFill xmlns:a="http://schemas.openxmlformats.org/drawingml/2006/main">
            <a:srgbClr val="CF7440"/>
          </a:solidFill>
          <a:ln xmlns:a="http://schemas.openxmlformats.org/drawingml/2006/main" w="0">
            <a:noFill/>
            <a:prstDash val="solid"/>
          </a:ln>
        </p:spPr>
      </p:sp>
      <p:sp>
        <p:nvSpPr>
          <p:cNvPr id="21" name="s2-thesis">
            <a:extLst xmlns:a="http://schemas.openxmlformats.org/drawingml/2006/main">
              <a:ext uri="{FF2B5EF4-FFF2-40B4-BE49-F238E27FC236}">
                <a16:creationId xmlns:a16="http://schemas.microsoft.com/office/drawing/2014/main" id="{9AB73987-2361-4C97-9D5E-5DBA90C401D5}"/>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i="0">
                <a:solidFill>
                  <a:srgbClr val="F4F0E8"/>
                </a:solidFill>
                <a:latin typeface="Avenir Next"/>
                <a:ea typeface="Avenir Next"/>
                <a:cs typeface="Avenir Next"/>
              </a:defRPr>
            </a:pPr>
            <a:r>
              <a:rPr sz="1950" b="1" i="0">
                <a:solidFill>
                  <a:srgbClr val="F4F0E8"/>
                </a:solidFill>
                <a:latin typeface="Avenir Next"/>
                <a:ea typeface="Avenir Next"/>
                <a:cs typeface="Avenir Next"/>
              </a:rPr>
              <a:t>Tracefold answers locally, refuses weak evidence, and opens every citation.</a:t>
            </a:r>
          </a:p>
        </p:txBody>
      </p:sp>
    </p:spTree>
    <p:extLst>
      <p:ext uri="{BB962C8B-B14F-4D97-AF65-F5344CB8AC3E}">
        <p14:creationId xmlns:p14="http://schemas.microsoft.com/office/powerpoint/2010/main" val="924353229"/>
      </p:ext>
    </p:extLst>
  </p:cSld>
</p:sld>
</file>

<file path=ppt/slides/slide3.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44" name="brand-3">
            <a:extLst xmlns:a="http://schemas.openxmlformats.org/drawingml/2006/main">
              <a:ext uri="{FF2B5EF4-FFF2-40B4-BE49-F238E27FC236}">
                <a16:creationId xmlns:a16="http://schemas.microsoft.com/office/drawing/2014/main" id="{6F11DDEB-4558-433D-8B29-85FB15C3A516}"/>
              </a:ext>
            </a:extLst>
          </p:cNvPr>
          <p:cNvSpPr>
            <a:spLocks xmlns:a="http://schemas.openxmlformats.org/drawingml/2006/main" noGrp="1"/>
          </p:cNvSpPr>
          <p:nvPr/>
        </p:nvSpPr>
        <p:spPr>
          <a:xfrm xmlns:a="http://schemas.openxmlformats.org/drawingml/2006/main">
            <a:off x="685800" y="266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08171A"/>
                </a:solidFill>
                <a:latin typeface="Avenir Next"/>
                <a:ea typeface="Avenir Next"/>
                <a:cs typeface="Avenir Next"/>
              </a:defRPr>
            </a:pPr>
            <a:r>
              <a:rPr sz="1200" b="1" i="0">
                <a:solidFill>
                  <a:srgbClr val="08171A"/>
                </a:solidFill>
                <a:latin typeface="Avenir Next"/>
                <a:ea typeface="Avenir Next"/>
                <a:cs typeface="Avenir Next"/>
              </a:rPr>
              <a:t>TRACEFOLD</a:t>
            </a:r>
          </a:p>
        </p:txBody>
      </p:sp>
      <p:sp>
        <p:nvSpPr>
          <p:cNvPr id="2" name="fold-mark-a-3">
            <a:extLst xmlns:a="http://schemas.openxmlformats.org/drawingml/2006/main">
              <a:ext uri="{FF2B5EF4-FFF2-40B4-BE49-F238E27FC236}">
                <a16:creationId xmlns:a16="http://schemas.microsoft.com/office/drawing/2014/main" id="{891CBECF-C0E6-4758-966C-773C1EE72D96}"/>
              </a:ext>
            </a:extLst>
          </p:cNvPr>
          <p:cNvSpPr>
            <a:spLocks xmlns:a="http://schemas.openxmlformats.org/drawingml/2006/main" noGrp="1"/>
          </p:cNvSpPr>
          <p:nvPr/>
        </p:nvSpPr>
        <p:spPr>
          <a:xfrm xmlns:a="http://schemas.openxmlformats.org/drawingml/2006/main" rot="5400000">
            <a:off x="457200" y="2571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3" name="fold-mark-b-3">
            <a:extLst xmlns:a="http://schemas.openxmlformats.org/drawingml/2006/main">
              <a:ext uri="{FF2B5EF4-FFF2-40B4-BE49-F238E27FC236}">
                <a16:creationId xmlns:a16="http://schemas.microsoft.com/office/drawing/2014/main" id="{48C3A1FD-6119-4CCA-97D7-87972EF578C7}"/>
              </a:ext>
            </a:extLst>
          </p:cNvPr>
          <p:cNvSpPr>
            <a:spLocks xmlns:a="http://schemas.openxmlformats.org/drawingml/2006/main" noGrp="1"/>
          </p:cNvSpPr>
          <p:nvPr/>
        </p:nvSpPr>
        <p:spPr>
          <a:xfrm xmlns:a="http://schemas.openxmlformats.org/drawingml/2006/main" rot="16200000">
            <a:off x="457200" y="3714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4" name="page-3">
            <a:extLst xmlns:a="http://schemas.openxmlformats.org/drawingml/2006/main">
              <a:ext uri="{FF2B5EF4-FFF2-40B4-BE49-F238E27FC236}">
                <a16:creationId xmlns:a16="http://schemas.microsoft.com/office/drawing/2014/main" id="{3747584E-4250-41FA-80F0-E74199DFD2DB}"/>
              </a:ext>
            </a:extLst>
          </p:cNvPr>
          <p:cNvSpPr>
            <a:spLocks xmlns:a="http://schemas.openxmlformats.org/drawingml/2006/main" noGrp="1"/>
          </p:cNvSpPr>
          <p:nvPr/>
        </p:nvSpPr>
        <p:spPr>
          <a:xfrm xmlns:a="http://schemas.openxmlformats.org/drawingml/2006/main">
            <a:off x="11239500" y="276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03</a:t>
            </a:r>
          </a:p>
        </p:txBody>
      </p:sp>
      <p:sp>
        <p:nvSpPr>
          <p:cNvPr id="5" name="s3-eyebrow">
            <a:extLst xmlns:a="http://schemas.openxmlformats.org/drawingml/2006/main">
              <a:ext uri="{FF2B5EF4-FFF2-40B4-BE49-F238E27FC236}">
                <a16:creationId xmlns:a16="http://schemas.microsoft.com/office/drawing/2014/main" id="{EDD52ADA-9ED9-4B0B-AC09-B01E3017EAD3}"/>
              </a:ext>
            </a:extLst>
          </p:cNvPr>
          <p:cNvSpPr>
            <a:spLocks xmlns:a="http://schemas.openxmlformats.org/drawingml/2006/main" noGrp="1"/>
          </p:cNvSpPr>
          <p:nvPr/>
        </p:nvSpPr>
        <p:spPr>
          <a:xfrm xmlns:a="http://schemas.openxmlformats.org/drawingml/2006/main">
            <a:off x="685800" y="80010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LOCAL RAG ARCHITECTURE</a:t>
            </a:r>
          </a:p>
        </p:txBody>
      </p:sp>
      <p:sp>
        <p:nvSpPr>
          <p:cNvPr id="6" name="s3-title">
            <a:extLst xmlns:a="http://schemas.openxmlformats.org/drawingml/2006/main">
              <a:ext uri="{FF2B5EF4-FFF2-40B4-BE49-F238E27FC236}">
                <a16:creationId xmlns:a16="http://schemas.microsoft.com/office/drawing/2014/main" id="{6E62E507-58B0-4ED4-A80B-E801DD785B4E}"/>
              </a:ext>
            </a:extLst>
          </p:cNvPr>
          <p:cNvSpPr>
            <a:spLocks xmlns:a="http://schemas.openxmlformats.org/drawingml/2006/main" noGrp="1"/>
          </p:cNvSpPr>
          <p:nvPr/>
        </p:nvSpPr>
        <p:spPr>
          <a:xfrm xmlns:a="http://schemas.openxmlformats.org/drawingml/2006/main">
            <a:off x="685800" y="106680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150" b="0" i="0">
                <a:solidFill>
                  <a:srgbClr val="08171A"/>
                </a:solidFill>
                <a:latin typeface="Georgia"/>
                <a:ea typeface="Georgia"/>
                <a:cs typeface="Georgia"/>
              </a:defRPr>
            </a:pPr>
            <a:r>
              <a:rPr sz="3150" b="0" i="0">
                <a:solidFill>
                  <a:srgbClr val="08171A"/>
                </a:solidFill>
                <a:latin typeface="Georgia"/>
                <a:ea typeface="Georgia"/>
                <a:cs typeface="Georgia"/>
              </a:rPr>
              <a:t>Every answer stays local — and the proof stays attached.</a:t>
            </a:r>
          </a:p>
        </p:txBody>
      </p:sp>
      <p:sp>
        <p:nvSpPr>
          <p:cNvPr id="7" name="s3-subtitle">
            <a:extLst xmlns:a="http://schemas.openxmlformats.org/drawingml/2006/main">
              <a:ext uri="{FF2B5EF4-FFF2-40B4-BE49-F238E27FC236}">
                <a16:creationId xmlns:a16="http://schemas.microsoft.com/office/drawing/2014/main" id="{06CA8874-C538-49EA-AA1B-49AFD3AA551D}"/>
              </a:ext>
            </a:extLst>
          </p:cNvPr>
          <p:cNvSpPr>
            <a:spLocks xmlns:a="http://schemas.openxmlformats.org/drawingml/2006/main" noGrp="1"/>
          </p:cNvSpPr>
          <p:nvPr/>
        </p:nvSpPr>
        <p:spPr>
          <a:xfrm xmlns:a="http://schemas.openxmlformats.org/drawingml/2006/main">
            <a:off x="685800" y="16383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0" i="0">
                <a:solidFill>
                  <a:srgbClr val="6B6F69"/>
                </a:solidFill>
                <a:latin typeface="Avenir Next"/>
                <a:ea typeface="Avenir Next"/>
                <a:cs typeface="Avenir Next"/>
              </a:defRPr>
            </a:pPr>
            <a:r>
              <a:rPr sz="1425" b="0" i="0">
                <a:solidFill>
                  <a:srgbClr val="6B6F69"/>
                </a:solidFill>
                <a:latin typeface="Avenir Next"/>
                <a:ea typeface="Avenir Next"/>
                <a:cs typeface="Avenir Next"/>
              </a:rPr>
              <a:t>One deterministic pipeline from source file to validated citation.</a:t>
            </a:r>
          </a:p>
        </p:txBody>
      </p:sp>
      <p:sp>
        <p:nvSpPr>
          <p:cNvPr id="8" name="s3-boundary">
            <a:extLst xmlns:a="http://schemas.openxmlformats.org/drawingml/2006/main">
              <a:ext uri="{FF2B5EF4-FFF2-40B4-BE49-F238E27FC236}">
                <a16:creationId xmlns:a16="http://schemas.microsoft.com/office/drawing/2014/main" id="{547822AB-D66A-4C6A-9E49-E7F351E74BD6}"/>
              </a:ext>
            </a:extLst>
          </p:cNvPr>
          <p:cNvSpPr>
            <a:spLocks xmlns:a="http://schemas.openxmlformats.org/drawingml/2006/main" noGrp="1"/>
          </p:cNvSpPr>
          <p:nvPr/>
        </p:nvSpPr>
        <p:spPr>
          <a:xfrm xmlns:a="http://schemas.openxmlformats.org/drawingml/2006/main">
            <a:off x="571500" y="2114550"/>
            <a:ext cx="11049000" cy="3333750"/>
          </a:xfrm>
          <a:prstGeom xmlns:a="http://schemas.openxmlformats.org/drawingml/2006/main" prst="roundRect">
            <a:avLst>
              <a:gd name="adj" fmla="val 6857"/>
            </a:avLst>
          </a:prstGeom>
          <a:solidFill xmlns:a="http://schemas.openxmlformats.org/drawingml/2006/main">
            <a:srgbClr val="FBF8F2"/>
          </a:solidFill>
          <a:ln xmlns:a="http://schemas.openxmlformats.org/drawingml/2006/main" w="19050">
            <a:solidFill>
              <a:srgbClr val="E8C5AF"/>
            </a:solidFill>
            <a:prstDash val="solid"/>
          </a:ln>
        </p:spPr>
      </p:sp>
      <p:sp>
        <p:nvSpPr>
          <p:cNvPr id="9" name="s3-boundary-label">
            <a:extLst xmlns:a="http://schemas.openxmlformats.org/drawingml/2006/main">
              <a:ext uri="{FF2B5EF4-FFF2-40B4-BE49-F238E27FC236}">
                <a16:creationId xmlns:a16="http://schemas.microsoft.com/office/drawing/2014/main" id="{787CB265-CF0C-4B37-BA2A-C56A21D16815}"/>
              </a:ext>
            </a:extLst>
          </p:cNvPr>
          <p:cNvSpPr>
            <a:spLocks xmlns:a="http://schemas.openxmlformats.org/drawingml/2006/main" noGrp="1"/>
          </p:cNvSpPr>
          <p:nvPr/>
        </p:nvSpPr>
        <p:spPr>
          <a:xfrm xmlns:a="http://schemas.openxmlformats.org/drawingml/2006/main">
            <a:off x="800100" y="228600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LOCAL EXECUTION BOUNDARY · FASTAPI + FOUNDRY LOCAL + SQLITE</a:t>
            </a:r>
          </a:p>
        </p:txBody>
      </p:sp>
      <p:sp>
        <p:nvSpPr>
          <p:cNvPr id="10" name="s3-local-pill">
            <a:extLst xmlns:a="http://schemas.openxmlformats.org/drawingml/2006/main">
              <a:ext uri="{FF2B5EF4-FFF2-40B4-BE49-F238E27FC236}">
                <a16:creationId xmlns:a16="http://schemas.microsoft.com/office/drawing/2014/main" id="{8EF63973-25EF-4DCD-A228-C394627B45FB}"/>
              </a:ext>
            </a:extLst>
          </p:cNvPr>
          <p:cNvSpPr>
            <a:spLocks xmlns:a="http://schemas.openxmlformats.org/drawingml/2006/main" noGrp="1"/>
          </p:cNvSpPr>
          <p:nvPr/>
        </p:nvSpPr>
        <p:spPr>
          <a:xfrm xmlns:a="http://schemas.openxmlformats.org/drawingml/2006/main">
            <a:off x="9315450" y="2266950"/>
            <a:ext cx="2076450" cy="285750"/>
          </a:xfrm>
          <a:prstGeom xmlns:a="http://schemas.openxmlformats.org/drawingml/2006/main" prst="roundRect">
            <a:avLst>
              <a:gd name="adj" fmla="val 50000"/>
            </a:avLst>
          </a:prstGeom>
          <a:solidFill xmlns:a="http://schemas.openxmlformats.org/drawingml/2006/main">
            <a:srgbClr val="08171A"/>
          </a:solidFill>
          <a:ln xmlns:a="http://schemas.openxmlformats.org/drawingml/2006/main" w="0">
            <a:noFill/>
            <a:prstDash val="solid"/>
          </a:ln>
        </p:spPr>
      </p:sp>
      <p:sp>
        <p:nvSpPr>
          <p:cNvPr id="11" name="s3-local-pill-text">
            <a:extLst xmlns:a="http://schemas.openxmlformats.org/drawingml/2006/main">
              <a:ext uri="{FF2B5EF4-FFF2-40B4-BE49-F238E27FC236}">
                <a16:creationId xmlns:a16="http://schemas.microsoft.com/office/drawing/2014/main" id="{FA014039-6B44-4092-B63B-1C9A9F895641}"/>
              </a:ext>
            </a:extLst>
          </p:cNvPr>
          <p:cNvSpPr>
            <a:spLocks xmlns:a="http://schemas.openxmlformats.org/drawingml/2006/main" noGrp="1"/>
          </p:cNvSpPr>
          <p:nvPr/>
        </p:nvSpPr>
        <p:spPr>
          <a:xfrm xmlns:a="http://schemas.openxmlformats.org/drawingml/2006/main">
            <a:off x="9458325" y="2324100"/>
            <a:ext cx="1790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1" i="0">
                <a:solidFill>
                  <a:srgbClr val="F4F0E8"/>
                </a:solidFill>
                <a:latin typeface="Avenir Next"/>
                <a:ea typeface="Avenir Next"/>
                <a:cs typeface="Avenir Next"/>
              </a:defRPr>
            </a:pPr>
            <a:r>
              <a:rPr sz="1200" b="1" i="0">
                <a:solidFill>
                  <a:srgbClr val="F4F0E8"/>
                </a:solidFill>
                <a:latin typeface="Avenir Next"/>
                <a:ea typeface="Avenir Next"/>
                <a:cs typeface="Avenir Next"/>
              </a:rPr>
              <a:t>NO CLOUD CALLS</a:t>
            </a:r>
          </a:p>
        </p:txBody>
      </p:sp>
      <p:sp>
        <p:nvSpPr>
          <p:cNvPr id="12" name="s3-arrow-0">
            <a:extLst xmlns:a="http://schemas.openxmlformats.org/drawingml/2006/main">
              <a:ext uri="{FF2B5EF4-FFF2-40B4-BE49-F238E27FC236}">
                <a16:creationId xmlns:a16="http://schemas.microsoft.com/office/drawing/2014/main" id="{0842DFD5-37E4-402C-B215-F33901D5B028}"/>
              </a:ext>
            </a:extLst>
          </p:cNvPr>
          <p:cNvSpPr>
            <a:spLocks xmlns:a="http://schemas.openxmlformats.org/drawingml/2006/main" noGrp="1"/>
          </p:cNvSpPr>
          <p:nvPr/>
        </p:nvSpPr>
        <p:spPr>
          <a:xfrm xmlns:a="http://schemas.openxmlformats.org/drawingml/2006/main">
            <a:off x="2324100" y="3476625"/>
            <a:ext cx="190500" cy="171450"/>
          </a:xfrm>
          <a:prstGeom xmlns:a="http://schemas.openxmlformats.org/drawingml/2006/main" prst="rightArrow">
            <a:avLst/>
          </a:prstGeom>
          <a:solidFill xmlns:a="http://schemas.openxmlformats.org/drawingml/2006/main">
            <a:srgbClr val="CF7440"/>
          </a:solidFill>
          <a:ln xmlns:a="http://schemas.openxmlformats.org/drawingml/2006/main" w="0">
            <a:noFill/>
            <a:prstDash val="solid"/>
          </a:ln>
        </p:spPr>
      </p:sp>
      <p:sp>
        <p:nvSpPr>
          <p:cNvPr id="13" name="s3-arrow-1">
            <a:extLst xmlns:a="http://schemas.openxmlformats.org/drawingml/2006/main">
              <a:ext uri="{FF2B5EF4-FFF2-40B4-BE49-F238E27FC236}">
                <a16:creationId xmlns:a16="http://schemas.microsoft.com/office/drawing/2014/main" id="{364B8107-81DD-465F-806B-4622F80BEA07}"/>
              </a:ext>
            </a:extLst>
          </p:cNvPr>
          <p:cNvSpPr>
            <a:spLocks xmlns:a="http://schemas.openxmlformats.org/drawingml/2006/main" noGrp="1"/>
          </p:cNvSpPr>
          <p:nvPr/>
        </p:nvSpPr>
        <p:spPr>
          <a:xfrm xmlns:a="http://schemas.openxmlformats.org/drawingml/2006/main">
            <a:off x="4133850" y="3476625"/>
            <a:ext cx="190500" cy="171450"/>
          </a:xfrm>
          <a:prstGeom xmlns:a="http://schemas.openxmlformats.org/drawingml/2006/main" prst="rightArrow">
            <a:avLst/>
          </a:prstGeom>
          <a:solidFill xmlns:a="http://schemas.openxmlformats.org/drawingml/2006/main">
            <a:srgbClr val="CF7440"/>
          </a:solidFill>
          <a:ln xmlns:a="http://schemas.openxmlformats.org/drawingml/2006/main" w="0">
            <a:noFill/>
            <a:prstDash val="solid"/>
          </a:ln>
        </p:spPr>
      </p:sp>
      <p:sp>
        <p:nvSpPr>
          <p:cNvPr id="14" name="s3-arrow-2">
            <a:extLst xmlns:a="http://schemas.openxmlformats.org/drawingml/2006/main">
              <a:ext uri="{FF2B5EF4-FFF2-40B4-BE49-F238E27FC236}">
                <a16:creationId xmlns:a16="http://schemas.microsoft.com/office/drawing/2014/main" id="{EF184F88-E3EB-40D2-8A42-E4FCCE3E282A}"/>
              </a:ext>
            </a:extLst>
          </p:cNvPr>
          <p:cNvSpPr>
            <a:spLocks xmlns:a="http://schemas.openxmlformats.org/drawingml/2006/main" noGrp="1"/>
          </p:cNvSpPr>
          <p:nvPr/>
        </p:nvSpPr>
        <p:spPr>
          <a:xfrm xmlns:a="http://schemas.openxmlformats.org/drawingml/2006/main">
            <a:off x="5943600" y="3476625"/>
            <a:ext cx="190500" cy="171450"/>
          </a:xfrm>
          <a:prstGeom xmlns:a="http://schemas.openxmlformats.org/drawingml/2006/main" prst="rightArrow">
            <a:avLst/>
          </a:prstGeom>
          <a:solidFill xmlns:a="http://schemas.openxmlformats.org/drawingml/2006/main">
            <a:srgbClr val="CF7440"/>
          </a:solidFill>
          <a:ln xmlns:a="http://schemas.openxmlformats.org/drawingml/2006/main" w="0">
            <a:noFill/>
            <a:prstDash val="solid"/>
          </a:ln>
        </p:spPr>
      </p:sp>
      <p:sp>
        <p:nvSpPr>
          <p:cNvPr id="15" name="s3-arrow-3">
            <a:extLst xmlns:a="http://schemas.openxmlformats.org/drawingml/2006/main">
              <a:ext uri="{FF2B5EF4-FFF2-40B4-BE49-F238E27FC236}">
                <a16:creationId xmlns:a16="http://schemas.microsoft.com/office/drawing/2014/main" id="{8588D10B-11E1-4CD2-83A2-1C210EBBEC75}"/>
              </a:ext>
            </a:extLst>
          </p:cNvPr>
          <p:cNvSpPr>
            <a:spLocks xmlns:a="http://schemas.openxmlformats.org/drawingml/2006/main" noGrp="1"/>
          </p:cNvSpPr>
          <p:nvPr/>
        </p:nvSpPr>
        <p:spPr>
          <a:xfrm xmlns:a="http://schemas.openxmlformats.org/drawingml/2006/main">
            <a:off x="7753350" y="3476625"/>
            <a:ext cx="190500" cy="171450"/>
          </a:xfrm>
          <a:prstGeom xmlns:a="http://schemas.openxmlformats.org/drawingml/2006/main" prst="rightArrow">
            <a:avLst/>
          </a:prstGeom>
          <a:solidFill xmlns:a="http://schemas.openxmlformats.org/drawingml/2006/main">
            <a:srgbClr val="CF7440"/>
          </a:solidFill>
          <a:ln xmlns:a="http://schemas.openxmlformats.org/drawingml/2006/main" w="0">
            <a:noFill/>
            <a:prstDash val="solid"/>
          </a:ln>
        </p:spPr>
      </p:sp>
      <p:sp>
        <p:nvSpPr>
          <p:cNvPr id="16" name="s3-arrow-4">
            <a:extLst xmlns:a="http://schemas.openxmlformats.org/drawingml/2006/main">
              <a:ext uri="{FF2B5EF4-FFF2-40B4-BE49-F238E27FC236}">
                <a16:creationId xmlns:a16="http://schemas.microsoft.com/office/drawing/2014/main" id="{4316F498-A580-4246-A3EF-9EAED49892B3}"/>
              </a:ext>
            </a:extLst>
          </p:cNvPr>
          <p:cNvSpPr>
            <a:spLocks xmlns:a="http://schemas.openxmlformats.org/drawingml/2006/main" noGrp="1"/>
          </p:cNvSpPr>
          <p:nvPr/>
        </p:nvSpPr>
        <p:spPr>
          <a:xfrm xmlns:a="http://schemas.openxmlformats.org/drawingml/2006/main">
            <a:off x="9563100" y="3476625"/>
            <a:ext cx="190500" cy="171450"/>
          </a:xfrm>
          <a:prstGeom xmlns:a="http://schemas.openxmlformats.org/drawingml/2006/main" prst="rightArrow">
            <a:avLst/>
          </a:prstGeom>
          <a:solidFill xmlns:a="http://schemas.openxmlformats.org/drawingml/2006/main">
            <a:srgbClr val="CF7440"/>
          </a:solidFill>
          <a:ln xmlns:a="http://schemas.openxmlformats.org/drawingml/2006/main" w="0">
            <a:noFill/>
            <a:prstDash val="solid"/>
          </a:ln>
        </p:spPr>
      </p:sp>
      <p:sp>
        <p:nvSpPr>
          <p:cNvPr id="17" name="node-1">
            <a:extLst xmlns:a="http://schemas.openxmlformats.org/drawingml/2006/main">
              <a:ext uri="{FF2B5EF4-FFF2-40B4-BE49-F238E27FC236}">
                <a16:creationId xmlns:a16="http://schemas.microsoft.com/office/drawing/2014/main" id="{CEA7E9F9-45E9-4F05-BD2D-6256FB34F7F4}"/>
              </a:ext>
            </a:extLst>
          </p:cNvPr>
          <p:cNvSpPr>
            <a:spLocks xmlns:a="http://schemas.openxmlformats.org/drawingml/2006/main" noGrp="1"/>
          </p:cNvSpPr>
          <p:nvPr/>
        </p:nvSpPr>
        <p:spPr>
          <a:xfrm xmlns:a="http://schemas.openxmlformats.org/drawingml/2006/main">
            <a:off x="781050" y="2895600"/>
            <a:ext cx="1466850" cy="1409700"/>
          </a:xfrm>
          <a:prstGeom xmlns:a="http://schemas.openxmlformats.org/drawingml/2006/main" prst="roundRect">
            <a:avLst>
              <a:gd name="adj" fmla="val 12162"/>
            </a:avLst>
          </a:prstGeom>
          <a:solidFill xmlns:a="http://schemas.openxmlformats.org/drawingml/2006/main">
            <a:srgbClr val="FBF8F2"/>
          </a:solidFill>
          <a:ln xmlns:a="http://schemas.openxmlformats.org/drawingml/2006/main" w="11430">
            <a:solidFill>
              <a:srgbClr val="D8D0C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node-index-1">
            <a:extLst xmlns:a="http://schemas.openxmlformats.org/drawingml/2006/main">
              <a:ext uri="{FF2B5EF4-FFF2-40B4-BE49-F238E27FC236}">
                <a16:creationId xmlns:a16="http://schemas.microsoft.com/office/drawing/2014/main" id="{CB869CC3-B78A-46CA-ADDC-2E5F5369A431}"/>
              </a:ext>
            </a:extLst>
          </p:cNvPr>
          <p:cNvSpPr>
            <a:spLocks xmlns:a="http://schemas.openxmlformats.org/drawingml/2006/main" noGrp="1"/>
          </p:cNvSpPr>
          <p:nvPr/>
        </p:nvSpPr>
        <p:spPr>
          <a:xfrm xmlns:a="http://schemas.openxmlformats.org/drawingml/2006/main">
            <a:off x="93345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01</a:t>
            </a:r>
          </a:p>
        </p:txBody>
      </p:sp>
      <p:sp>
        <p:nvSpPr>
          <p:cNvPr id="19" name="node-title-1">
            <a:extLst xmlns:a="http://schemas.openxmlformats.org/drawingml/2006/main">
              <a:ext uri="{FF2B5EF4-FFF2-40B4-BE49-F238E27FC236}">
                <a16:creationId xmlns:a16="http://schemas.microsoft.com/office/drawing/2014/main" id="{A6F9FC77-6F86-4C89-B03F-32DFDEC74944}"/>
              </a:ext>
            </a:extLst>
          </p:cNvPr>
          <p:cNvSpPr>
            <a:spLocks xmlns:a="http://schemas.openxmlformats.org/drawingml/2006/main" noGrp="1"/>
          </p:cNvSpPr>
          <p:nvPr/>
        </p:nvSpPr>
        <p:spPr>
          <a:xfrm xmlns:a="http://schemas.openxmlformats.org/drawingml/2006/main">
            <a:off x="93345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575" b="1" i="0">
                <a:solidFill>
                  <a:srgbClr val="08171A"/>
                </a:solidFill>
                <a:latin typeface="Avenir Next"/>
                <a:ea typeface="Avenir Next"/>
                <a:cs typeface="Avenir Next"/>
              </a:defRPr>
            </a:pPr>
            <a:r>
              <a:rPr sz="1575" b="1" i="0">
                <a:solidFill>
                  <a:srgbClr val="08171A"/>
                </a:solidFill>
                <a:latin typeface="Avenir Next"/>
                <a:ea typeface="Avenir Next"/>
                <a:cs typeface="Avenir Next"/>
              </a:rPr>
              <a:t>Source files</a:t>
            </a:r>
          </a:p>
        </p:txBody>
      </p:sp>
      <p:sp>
        <p:nvSpPr>
          <p:cNvPr id="20" name="node-body-1">
            <a:extLst xmlns:a="http://schemas.openxmlformats.org/drawingml/2006/main">
              <a:ext uri="{FF2B5EF4-FFF2-40B4-BE49-F238E27FC236}">
                <a16:creationId xmlns:a16="http://schemas.microsoft.com/office/drawing/2014/main" id="{9D021A1A-7712-4539-A5F2-2D51CAFE50AE}"/>
              </a:ext>
            </a:extLst>
          </p:cNvPr>
          <p:cNvSpPr>
            <a:spLocks xmlns:a="http://schemas.openxmlformats.org/drawingml/2006/main" noGrp="1"/>
          </p:cNvSpPr>
          <p:nvPr/>
        </p:nvSpPr>
        <p:spPr>
          <a:xfrm xmlns:a="http://schemas.openxmlformats.org/drawingml/2006/main">
            <a:off x="93345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PDF · DOCX</a:t>
            </a:r>
          </a:p>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MD · TXT</a:t>
            </a:r>
          </a:p>
        </p:txBody>
      </p:sp>
      <p:sp>
        <p:nvSpPr>
          <p:cNvPr id="21" name="node-2">
            <a:extLst xmlns:a="http://schemas.openxmlformats.org/drawingml/2006/main">
              <a:ext uri="{FF2B5EF4-FFF2-40B4-BE49-F238E27FC236}">
                <a16:creationId xmlns:a16="http://schemas.microsoft.com/office/drawing/2014/main" id="{3D54D066-2F10-429C-AAF4-4C93BFB11128}"/>
              </a:ext>
            </a:extLst>
          </p:cNvPr>
          <p:cNvSpPr>
            <a:spLocks xmlns:a="http://schemas.openxmlformats.org/drawingml/2006/main" noGrp="1"/>
          </p:cNvSpPr>
          <p:nvPr/>
        </p:nvSpPr>
        <p:spPr>
          <a:xfrm xmlns:a="http://schemas.openxmlformats.org/drawingml/2006/main">
            <a:off x="2590800" y="2895600"/>
            <a:ext cx="1466850" cy="1409700"/>
          </a:xfrm>
          <a:prstGeom xmlns:a="http://schemas.openxmlformats.org/drawingml/2006/main" prst="roundRect">
            <a:avLst>
              <a:gd name="adj" fmla="val 12162"/>
            </a:avLst>
          </a:prstGeom>
          <a:solidFill xmlns:a="http://schemas.openxmlformats.org/drawingml/2006/main">
            <a:srgbClr val="FBF8F2"/>
          </a:solidFill>
          <a:ln xmlns:a="http://schemas.openxmlformats.org/drawingml/2006/main" w="11430">
            <a:solidFill>
              <a:srgbClr val="D8D0C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node-index-2">
            <a:extLst xmlns:a="http://schemas.openxmlformats.org/drawingml/2006/main">
              <a:ext uri="{FF2B5EF4-FFF2-40B4-BE49-F238E27FC236}">
                <a16:creationId xmlns:a16="http://schemas.microsoft.com/office/drawing/2014/main" id="{A29E7A46-AF45-4CE4-8187-BCF819E03CBE}"/>
              </a:ext>
            </a:extLst>
          </p:cNvPr>
          <p:cNvSpPr>
            <a:spLocks xmlns:a="http://schemas.openxmlformats.org/drawingml/2006/main" noGrp="1"/>
          </p:cNvSpPr>
          <p:nvPr/>
        </p:nvSpPr>
        <p:spPr>
          <a:xfrm xmlns:a="http://schemas.openxmlformats.org/drawingml/2006/main">
            <a:off x="274320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02</a:t>
            </a:r>
          </a:p>
        </p:txBody>
      </p:sp>
      <p:sp>
        <p:nvSpPr>
          <p:cNvPr id="23" name="node-title-2">
            <a:extLst xmlns:a="http://schemas.openxmlformats.org/drawingml/2006/main">
              <a:ext uri="{FF2B5EF4-FFF2-40B4-BE49-F238E27FC236}">
                <a16:creationId xmlns:a16="http://schemas.microsoft.com/office/drawing/2014/main" id="{7107051E-62F8-4AA9-8D9D-99744E4A38B5}"/>
              </a:ext>
            </a:extLst>
          </p:cNvPr>
          <p:cNvSpPr>
            <a:spLocks xmlns:a="http://schemas.openxmlformats.org/drawingml/2006/main" noGrp="1"/>
          </p:cNvSpPr>
          <p:nvPr/>
        </p:nvSpPr>
        <p:spPr>
          <a:xfrm xmlns:a="http://schemas.openxmlformats.org/drawingml/2006/main">
            <a:off x="274320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575" b="1" i="0">
                <a:solidFill>
                  <a:srgbClr val="08171A"/>
                </a:solidFill>
                <a:latin typeface="Avenir Next"/>
                <a:ea typeface="Avenir Next"/>
                <a:cs typeface="Avenir Next"/>
              </a:defRPr>
            </a:pPr>
            <a:r>
              <a:rPr sz="1575" b="1" i="0">
                <a:solidFill>
                  <a:srgbClr val="08171A"/>
                </a:solidFill>
                <a:latin typeface="Avenir Next"/>
                <a:ea typeface="Avenir Next"/>
                <a:cs typeface="Avenir Next"/>
              </a:rPr>
              <a:t>Section chunks</a:t>
            </a:r>
          </a:p>
        </p:txBody>
      </p:sp>
      <p:sp>
        <p:nvSpPr>
          <p:cNvPr id="24" name="node-body-2">
            <a:extLst xmlns:a="http://schemas.openxmlformats.org/drawingml/2006/main">
              <a:ext uri="{FF2B5EF4-FFF2-40B4-BE49-F238E27FC236}">
                <a16:creationId xmlns:a16="http://schemas.microsoft.com/office/drawing/2014/main" id="{C6F3DDAC-BCE4-48D0-9ABF-17B60427B0CA}"/>
              </a:ext>
            </a:extLst>
          </p:cNvPr>
          <p:cNvSpPr>
            <a:spLocks xmlns:a="http://schemas.openxmlformats.org/drawingml/2006/main" noGrp="1"/>
          </p:cNvSpPr>
          <p:nvPr/>
        </p:nvSpPr>
        <p:spPr>
          <a:xfrm xmlns:a="http://schemas.openxmlformats.org/drawingml/2006/main">
            <a:off x="274320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240 tokens</a:t>
            </a:r>
          </a:p>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45 overlap</a:t>
            </a:r>
          </a:p>
        </p:txBody>
      </p:sp>
      <p:sp>
        <p:nvSpPr>
          <p:cNvPr id="25" name="node-3">
            <a:extLst xmlns:a="http://schemas.openxmlformats.org/drawingml/2006/main">
              <a:ext uri="{FF2B5EF4-FFF2-40B4-BE49-F238E27FC236}">
                <a16:creationId xmlns:a16="http://schemas.microsoft.com/office/drawing/2014/main" id="{02DD463E-D714-4E3A-B095-AE4C4680463A}"/>
              </a:ext>
            </a:extLst>
          </p:cNvPr>
          <p:cNvSpPr>
            <a:spLocks xmlns:a="http://schemas.openxmlformats.org/drawingml/2006/main" noGrp="1"/>
          </p:cNvSpPr>
          <p:nvPr/>
        </p:nvSpPr>
        <p:spPr>
          <a:xfrm xmlns:a="http://schemas.openxmlformats.org/drawingml/2006/main">
            <a:off x="4400550" y="2895600"/>
            <a:ext cx="1466850" cy="1409700"/>
          </a:xfrm>
          <a:prstGeom xmlns:a="http://schemas.openxmlformats.org/drawingml/2006/main" prst="roundRect">
            <a:avLst>
              <a:gd name="adj" fmla="val 12162"/>
            </a:avLst>
          </a:prstGeom>
          <a:solidFill xmlns:a="http://schemas.openxmlformats.org/drawingml/2006/main">
            <a:srgbClr val="FBF8F2"/>
          </a:solidFill>
          <a:ln xmlns:a="http://schemas.openxmlformats.org/drawingml/2006/main" w="11430">
            <a:solidFill>
              <a:srgbClr val="D8D0C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node-index-3">
            <a:extLst xmlns:a="http://schemas.openxmlformats.org/drawingml/2006/main">
              <a:ext uri="{FF2B5EF4-FFF2-40B4-BE49-F238E27FC236}">
                <a16:creationId xmlns:a16="http://schemas.microsoft.com/office/drawing/2014/main" id="{32EFE339-2B26-41F5-BA7E-3E9427DD1613}"/>
              </a:ext>
            </a:extLst>
          </p:cNvPr>
          <p:cNvSpPr>
            <a:spLocks xmlns:a="http://schemas.openxmlformats.org/drawingml/2006/main" noGrp="1"/>
          </p:cNvSpPr>
          <p:nvPr/>
        </p:nvSpPr>
        <p:spPr>
          <a:xfrm xmlns:a="http://schemas.openxmlformats.org/drawingml/2006/main">
            <a:off x="455295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03</a:t>
            </a:r>
          </a:p>
        </p:txBody>
      </p:sp>
      <p:sp>
        <p:nvSpPr>
          <p:cNvPr id="27" name="node-title-3">
            <a:extLst xmlns:a="http://schemas.openxmlformats.org/drawingml/2006/main">
              <a:ext uri="{FF2B5EF4-FFF2-40B4-BE49-F238E27FC236}">
                <a16:creationId xmlns:a16="http://schemas.microsoft.com/office/drawing/2014/main" id="{24A53667-1CB4-4B79-8163-AAA348C8669A}"/>
              </a:ext>
            </a:extLst>
          </p:cNvPr>
          <p:cNvSpPr>
            <a:spLocks xmlns:a="http://schemas.openxmlformats.org/drawingml/2006/main" noGrp="1"/>
          </p:cNvSpPr>
          <p:nvPr/>
        </p:nvSpPr>
        <p:spPr>
          <a:xfrm xmlns:a="http://schemas.openxmlformats.org/drawingml/2006/main">
            <a:off x="455295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425" b="1" i="0">
                <a:solidFill>
                  <a:srgbClr val="08171A"/>
                </a:solidFill>
                <a:latin typeface="Avenir Next"/>
                <a:ea typeface="Avenir Next"/>
                <a:cs typeface="Avenir Next"/>
              </a:defRPr>
            </a:pPr>
            <a:r>
              <a:rPr sz="1425" b="1" i="0">
                <a:solidFill>
                  <a:srgbClr val="08171A"/>
                </a:solidFill>
                <a:latin typeface="Avenir Next"/>
                <a:ea typeface="Avenir Next"/>
                <a:cs typeface="Avenir Next"/>
              </a:rPr>
              <a:t>Local</a:t>
            </a:r>
          </a:p>
          <a:p xmlns:a="http://schemas.openxmlformats.org/drawingml/2006/main">
            <a:pPr algn="l">
              <a:lnSpc>
                <a:spcPct val="92000"/>
              </a:lnSpc>
              <a:buNone/>
              <a:defRPr sz="1425" b="1" i="0">
                <a:solidFill>
                  <a:srgbClr val="08171A"/>
                </a:solidFill>
                <a:latin typeface="Avenir Next"/>
                <a:ea typeface="Avenir Next"/>
                <a:cs typeface="Avenir Next"/>
              </a:defRPr>
            </a:pPr>
            <a:r>
              <a:rPr sz="1425" b="1" i="0">
                <a:solidFill>
                  <a:srgbClr val="08171A"/>
                </a:solidFill>
                <a:latin typeface="Avenir Next"/>
                <a:ea typeface="Avenir Next"/>
                <a:cs typeface="Avenir Next"/>
              </a:rPr>
              <a:t>embeddings</a:t>
            </a:r>
          </a:p>
        </p:txBody>
      </p:sp>
      <p:sp>
        <p:nvSpPr>
          <p:cNvPr id="28" name="node-body-3">
            <a:extLst xmlns:a="http://schemas.openxmlformats.org/drawingml/2006/main">
              <a:ext uri="{FF2B5EF4-FFF2-40B4-BE49-F238E27FC236}">
                <a16:creationId xmlns:a16="http://schemas.microsoft.com/office/drawing/2014/main" id="{6AC97E43-1737-4E12-8576-E0A8EA64AEC5}"/>
              </a:ext>
            </a:extLst>
          </p:cNvPr>
          <p:cNvSpPr>
            <a:spLocks xmlns:a="http://schemas.openxmlformats.org/drawingml/2006/main" noGrp="1"/>
          </p:cNvSpPr>
          <p:nvPr/>
        </p:nvSpPr>
        <p:spPr>
          <a:xfrm xmlns:a="http://schemas.openxmlformats.org/drawingml/2006/main">
            <a:off x="455295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Qwen3 0.6B</a:t>
            </a:r>
          </a:p>
        </p:txBody>
      </p:sp>
      <p:sp>
        <p:nvSpPr>
          <p:cNvPr id="29" name="node-4">
            <a:extLst xmlns:a="http://schemas.openxmlformats.org/drawingml/2006/main">
              <a:ext uri="{FF2B5EF4-FFF2-40B4-BE49-F238E27FC236}">
                <a16:creationId xmlns:a16="http://schemas.microsoft.com/office/drawing/2014/main" id="{24B050BF-D58C-488E-B2C7-37510674C3DB}"/>
              </a:ext>
            </a:extLst>
          </p:cNvPr>
          <p:cNvSpPr>
            <a:spLocks xmlns:a="http://schemas.openxmlformats.org/drawingml/2006/main" noGrp="1"/>
          </p:cNvSpPr>
          <p:nvPr/>
        </p:nvSpPr>
        <p:spPr>
          <a:xfrm xmlns:a="http://schemas.openxmlformats.org/drawingml/2006/main">
            <a:off x="6210300" y="2895600"/>
            <a:ext cx="1466850" cy="1409700"/>
          </a:xfrm>
          <a:prstGeom xmlns:a="http://schemas.openxmlformats.org/drawingml/2006/main" prst="roundRect">
            <a:avLst>
              <a:gd name="adj" fmla="val 12162"/>
            </a:avLst>
          </a:prstGeom>
          <a:solidFill xmlns:a="http://schemas.openxmlformats.org/drawingml/2006/main">
            <a:srgbClr val="FBF8F2"/>
          </a:solidFill>
          <a:ln xmlns:a="http://schemas.openxmlformats.org/drawingml/2006/main" w="11430">
            <a:solidFill>
              <a:srgbClr val="D8D0C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node-index-4">
            <a:extLst xmlns:a="http://schemas.openxmlformats.org/drawingml/2006/main">
              <a:ext uri="{FF2B5EF4-FFF2-40B4-BE49-F238E27FC236}">
                <a16:creationId xmlns:a16="http://schemas.microsoft.com/office/drawing/2014/main" id="{1538AFC9-280A-4489-9481-954B9E4E1798}"/>
              </a:ext>
            </a:extLst>
          </p:cNvPr>
          <p:cNvSpPr>
            <a:spLocks xmlns:a="http://schemas.openxmlformats.org/drawingml/2006/main" noGrp="1"/>
          </p:cNvSpPr>
          <p:nvPr/>
        </p:nvSpPr>
        <p:spPr>
          <a:xfrm xmlns:a="http://schemas.openxmlformats.org/drawingml/2006/main">
            <a:off x="636270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04</a:t>
            </a:r>
          </a:p>
        </p:txBody>
      </p:sp>
      <p:sp>
        <p:nvSpPr>
          <p:cNvPr id="31" name="node-title-4">
            <a:extLst xmlns:a="http://schemas.openxmlformats.org/drawingml/2006/main">
              <a:ext uri="{FF2B5EF4-FFF2-40B4-BE49-F238E27FC236}">
                <a16:creationId xmlns:a16="http://schemas.microsoft.com/office/drawing/2014/main" id="{2C755D05-C78E-41CF-A153-D45EADE1368D}"/>
              </a:ext>
            </a:extLst>
          </p:cNvPr>
          <p:cNvSpPr>
            <a:spLocks xmlns:a="http://schemas.openxmlformats.org/drawingml/2006/main" noGrp="1"/>
          </p:cNvSpPr>
          <p:nvPr/>
        </p:nvSpPr>
        <p:spPr>
          <a:xfrm xmlns:a="http://schemas.openxmlformats.org/drawingml/2006/main">
            <a:off x="636270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575" b="1" i="0">
                <a:solidFill>
                  <a:srgbClr val="08171A"/>
                </a:solidFill>
                <a:latin typeface="Avenir Next"/>
                <a:ea typeface="Avenir Next"/>
                <a:cs typeface="Avenir Next"/>
              </a:defRPr>
            </a:pPr>
            <a:r>
              <a:rPr sz="1575" b="1" i="0">
                <a:solidFill>
                  <a:srgbClr val="08171A"/>
                </a:solidFill>
                <a:latin typeface="Avenir Next"/>
                <a:ea typeface="Avenir Next"/>
                <a:cs typeface="Avenir Next"/>
              </a:rPr>
              <a:t>SQLite vectors</a:t>
            </a:r>
          </a:p>
        </p:txBody>
      </p:sp>
      <p:sp>
        <p:nvSpPr>
          <p:cNvPr id="32" name="node-body-4">
            <a:extLst xmlns:a="http://schemas.openxmlformats.org/drawingml/2006/main">
              <a:ext uri="{FF2B5EF4-FFF2-40B4-BE49-F238E27FC236}">
                <a16:creationId xmlns:a16="http://schemas.microsoft.com/office/drawing/2014/main" id="{E140E7EF-E1CE-4E81-B2CE-2AC60E5B86EB}"/>
              </a:ext>
            </a:extLst>
          </p:cNvPr>
          <p:cNvSpPr>
            <a:spLocks xmlns:a="http://schemas.openxmlformats.org/drawingml/2006/main" noGrp="1"/>
          </p:cNvSpPr>
          <p:nvPr/>
        </p:nvSpPr>
        <p:spPr>
          <a:xfrm xmlns:a="http://schemas.openxmlformats.org/drawingml/2006/main">
            <a:off x="636270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Float32 BLOB</a:t>
            </a:r>
          </a:p>
        </p:txBody>
      </p:sp>
      <p:sp>
        <p:nvSpPr>
          <p:cNvPr id="33" name="node-5">
            <a:extLst xmlns:a="http://schemas.openxmlformats.org/drawingml/2006/main">
              <a:ext uri="{FF2B5EF4-FFF2-40B4-BE49-F238E27FC236}">
                <a16:creationId xmlns:a16="http://schemas.microsoft.com/office/drawing/2014/main" id="{F0C84240-277D-49D3-AC23-15B78BCDEFCA}"/>
              </a:ext>
            </a:extLst>
          </p:cNvPr>
          <p:cNvSpPr>
            <a:spLocks xmlns:a="http://schemas.openxmlformats.org/drawingml/2006/main" noGrp="1"/>
          </p:cNvSpPr>
          <p:nvPr/>
        </p:nvSpPr>
        <p:spPr>
          <a:xfrm xmlns:a="http://schemas.openxmlformats.org/drawingml/2006/main">
            <a:off x="8020050" y="2895600"/>
            <a:ext cx="1466850" cy="1409700"/>
          </a:xfrm>
          <a:prstGeom xmlns:a="http://schemas.openxmlformats.org/drawingml/2006/main" prst="roundRect">
            <a:avLst>
              <a:gd name="adj" fmla="val 12162"/>
            </a:avLst>
          </a:prstGeom>
          <a:solidFill xmlns:a="http://schemas.openxmlformats.org/drawingml/2006/main">
            <a:srgbClr val="FBF8F2"/>
          </a:solidFill>
          <a:ln xmlns:a="http://schemas.openxmlformats.org/drawingml/2006/main" w="11430">
            <a:solidFill>
              <a:srgbClr val="D8D0C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node-index-5">
            <a:extLst xmlns:a="http://schemas.openxmlformats.org/drawingml/2006/main">
              <a:ext uri="{FF2B5EF4-FFF2-40B4-BE49-F238E27FC236}">
                <a16:creationId xmlns:a16="http://schemas.microsoft.com/office/drawing/2014/main" id="{A9D0362C-F3C7-48C4-823B-DB678BA89F9A}"/>
              </a:ext>
            </a:extLst>
          </p:cNvPr>
          <p:cNvSpPr>
            <a:spLocks xmlns:a="http://schemas.openxmlformats.org/drawingml/2006/main" noGrp="1"/>
          </p:cNvSpPr>
          <p:nvPr/>
        </p:nvSpPr>
        <p:spPr>
          <a:xfrm xmlns:a="http://schemas.openxmlformats.org/drawingml/2006/main">
            <a:off x="817245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05</a:t>
            </a:r>
          </a:p>
        </p:txBody>
      </p:sp>
      <p:sp>
        <p:nvSpPr>
          <p:cNvPr id="35" name="node-title-5">
            <a:extLst xmlns:a="http://schemas.openxmlformats.org/drawingml/2006/main">
              <a:ext uri="{FF2B5EF4-FFF2-40B4-BE49-F238E27FC236}">
                <a16:creationId xmlns:a16="http://schemas.microsoft.com/office/drawing/2014/main" id="{BA665016-CF3F-4CE5-BFE7-102ADD7439ED}"/>
              </a:ext>
            </a:extLst>
          </p:cNvPr>
          <p:cNvSpPr>
            <a:spLocks xmlns:a="http://schemas.openxmlformats.org/drawingml/2006/main" noGrp="1"/>
          </p:cNvSpPr>
          <p:nvPr/>
        </p:nvSpPr>
        <p:spPr>
          <a:xfrm xmlns:a="http://schemas.openxmlformats.org/drawingml/2006/main">
            <a:off x="817245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575" b="1" i="0">
                <a:solidFill>
                  <a:srgbClr val="08171A"/>
                </a:solidFill>
                <a:latin typeface="Avenir Next"/>
                <a:ea typeface="Avenir Next"/>
                <a:cs typeface="Avenir Next"/>
              </a:defRPr>
            </a:pPr>
            <a:r>
              <a:rPr sz="1575" b="1" i="0">
                <a:solidFill>
                  <a:srgbClr val="08171A"/>
                </a:solidFill>
                <a:latin typeface="Avenir Next"/>
                <a:ea typeface="Avenir Next"/>
                <a:cs typeface="Avenir Next"/>
              </a:rPr>
              <a:t>Top-5 evidence</a:t>
            </a:r>
          </a:p>
        </p:txBody>
      </p:sp>
      <p:sp>
        <p:nvSpPr>
          <p:cNvPr id="36" name="node-body-5">
            <a:extLst xmlns:a="http://schemas.openxmlformats.org/drawingml/2006/main">
              <a:ext uri="{FF2B5EF4-FFF2-40B4-BE49-F238E27FC236}">
                <a16:creationId xmlns:a16="http://schemas.microsoft.com/office/drawing/2014/main" id="{E8CD0074-7277-44F7-B82B-1CF7C4E43DA9}"/>
              </a:ext>
            </a:extLst>
          </p:cNvPr>
          <p:cNvSpPr>
            <a:spLocks xmlns:a="http://schemas.openxmlformats.org/drawingml/2006/main" noGrp="1"/>
          </p:cNvSpPr>
          <p:nvPr/>
        </p:nvSpPr>
        <p:spPr>
          <a:xfrm xmlns:a="http://schemas.openxmlformats.org/drawingml/2006/main">
            <a:off x="817245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cosine + gate</a:t>
            </a:r>
          </a:p>
        </p:txBody>
      </p:sp>
      <p:sp>
        <p:nvSpPr>
          <p:cNvPr id="37" name="node-6">
            <a:extLst xmlns:a="http://schemas.openxmlformats.org/drawingml/2006/main">
              <a:ext uri="{FF2B5EF4-FFF2-40B4-BE49-F238E27FC236}">
                <a16:creationId xmlns:a16="http://schemas.microsoft.com/office/drawing/2014/main" id="{54378F06-5DEA-4FE3-8781-BF6CEB5AAC6E}"/>
              </a:ext>
            </a:extLst>
          </p:cNvPr>
          <p:cNvSpPr>
            <a:spLocks xmlns:a="http://schemas.openxmlformats.org/drawingml/2006/main" noGrp="1"/>
          </p:cNvSpPr>
          <p:nvPr/>
        </p:nvSpPr>
        <p:spPr>
          <a:xfrm xmlns:a="http://schemas.openxmlformats.org/drawingml/2006/main">
            <a:off x="9829800" y="2895600"/>
            <a:ext cx="1466850" cy="1409700"/>
          </a:xfrm>
          <a:prstGeom xmlns:a="http://schemas.openxmlformats.org/drawingml/2006/main" prst="roundRect">
            <a:avLst>
              <a:gd name="adj" fmla="val 12162"/>
            </a:avLst>
          </a:prstGeom>
          <a:solidFill xmlns:a="http://schemas.openxmlformats.org/drawingml/2006/main">
            <a:srgbClr val="08171A"/>
          </a:solidFill>
          <a:ln xmlns:a="http://schemas.openxmlformats.org/drawingml/2006/main" w="11430">
            <a:solidFill>
              <a:srgbClr val="08171A"/>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38" name="node-index-6">
            <a:extLst xmlns:a="http://schemas.openxmlformats.org/drawingml/2006/main">
              <a:ext uri="{FF2B5EF4-FFF2-40B4-BE49-F238E27FC236}">
                <a16:creationId xmlns:a16="http://schemas.microsoft.com/office/drawing/2014/main" id="{53690AA9-EF89-42A4-92CB-6972500BA405}"/>
              </a:ext>
            </a:extLst>
          </p:cNvPr>
          <p:cNvSpPr>
            <a:spLocks xmlns:a="http://schemas.openxmlformats.org/drawingml/2006/main" noGrp="1"/>
          </p:cNvSpPr>
          <p:nvPr/>
        </p:nvSpPr>
        <p:spPr>
          <a:xfrm xmlns:a="http://schemas.openxmlformats.org/drawingml/2006/main">
            <a:off x="9982200" y="303847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06</a:t>
            </a:r>
          </a:p>
        </p:txBody>
      </p:sp>
      <p:sp>
        <p:nvSpPr>
          <p:cNvPr id="39" name="node-title-6">
            <a:extLst xmlns:a="http://schemas.openxmlformats.org/drawingml/2006/main">
              <a:ext uri="{FF2B5EF4-FFF2-40B4-BE49-F238E27FC236}">
                <a16:creationId xmlns:a16="http://schemas.microsoft.com/office/drawing/2014/main" id="{8C1DDE93-44E5-42ED-94C4-A118632C9DF4}"/>
              </a:ext>
            </a:extLst>
          </p:cNvPr>
          <p:cNvSpPr>
            <a:spLocks xmlns:a="http://schemas.openxmlformats.org/drawingml/2006/main" noGrp="1"/>
          </p:cNvSpPr>
          <p:nvPr/>
        </p:nvSpPr>
        <p:spPr>
          <a:xfrm xmlns:a="http://schemas.openxmlformats.org/drawingml/2006/main">
            <a:off x="9982200" y="3333750"/>
            <a:ext cx="1181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575" b="1" i="0">
                <a:solidFill>
                  <a:srgbClr val="F4F0E8"/>
                </a:solidFill>
                <a:latin typeface="Avenir Next"/>
                <a:ea typeface="Avenir Next"/>
                <a:cs typeface="Avenir Next"/>
              </a:defRPr>
            </a:pPr>
            <a:r>
              <a:rPr sz="1575" b="1" i="0">
                <a:solidFill>
                  <a:srgbClr val="F4F0E8"/>
                </a:solidFill>
                <a:latin typeface="Avenir Next"/>
                <a:ea typeface="Avenir Next"/>
                <a:cs typeface="Avenir Next"/>
              </a:rPr>
              <a:t>Grounded answer</a:t>
            </a:r>
          </a:p>
        </p:txBody>
      </p:sp>
      <p:sp>
        <p:nvSpPr>
          <p:cNvPr id="40" name="node-body-6">
            <a:extLst xmlns:a="http://schemas.openxmlformats.org/drawingml/2006/main">
              <a:ext uri="{FF2B5EF4-FFF2-40B4-BE49-F238E27FC236}">
                <a16:creationId xmlns:a16="http://schemas.microsoft.com/office/drawing/2014/main" id="{C73A35E3-11D2-4880-BFAE-08FB4185D634}"/>
              </a:ext>
            </a:extLst>
          </p:cNvPr>
          <p:cNvSpPr>
            <a:spLocks xmlns:a="http://schemas.openxmlformats.org/drawingml/2006/main" noGrp="1"/>
          </p:cNvSpPr>
          <p:nvPr/>
        </p:nvSpPr>
        <p:spPr>
          <a:xfrm xmlns:a="http://schemas.openxmlformats.org/drawingml/2006/main">
            <a:off x="9982200" y="3905250"/>
            <a:ext cx="1181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validated citations</a:t>
            </a:r>
          </a:p>
        </p:txBody>
      </p:sp>
      <p:sp>
        <p:nvSpPr>
          <p:cNvPr id="41" name="s3-foot-rule">
            <a:extLst xmlns:a="http://schemas.openxmlformats.org/drawingml/2006/main">
              <a:ext uri="{FF2B5EF4-FFF2-40B4-BE49-F238E27FC236}">
                <a16:creationId xmlns:a16="http://schemas.microsoft.com/office/drawing/2014/main" id="{BBEFD0FA-4DAA-43D4-A5F2-E23EF5418E33}"/>
              </a:ext>
            </a:extLst>
          </p:cNvPr>
          <p:cNvSpPr>
            <a:spLocks xmlns:a="http://schemas.openxmlformats.org/drawingml/2006/main" noGrp="1"/>
          </p:cNvSpPr>
          <p:nvPr/>
        </p:nvSpPr>
        <p:spPr>
          <a:xfrm xmlns:a="http://schemas.openxmlformats.org/drawingml/2006/main">
            <a:off x="800100" y="4724400"/>
            <a:ext cx="10591800" cy="9525"/>
          </a:xfrm>
          <a:prstGeom xmlns:a="http://schemas.openxmlformats.org/drawingml/2006/main" prst="rect">
            <a:avLst/>
          </a:prstGeom>
          <a:solidFill xmlns:a="http://schemas.openxmlformats.org/drawingml/2006/main">
            <a:srgbClr val="D8D0C4"/>
          </a:solidFill>
          <a:ln xmlns:a="http://schemas.openxmlformats.org/drawingml/2006/main" w="0">
            <a:noFill/>
            <a:prstDash val="solid"/>
          </a:ln>
        </p:spPr>
      </p:sp>
      <p:sp>
        <p:nvSpPr>
          <p:cNvPr id="42" name="s3-foot">
            <a:extLst xmlns:a="http://schemas.openxmlformats.org/drawingml/2006/main">
              <a:ext uri="{FF2B5EF4-FFF2-40B4-BE49-F238E27FC236}">
                <a16:creationId xmlns:a16="http://schemas.microsoft.com/office/drawing/2014/main" id="{18DE836D-86D4-459D-9C92-AE7477FE35F4}"/>
              </a:ext>
            </a:extLst>
          </p:cNvPr>
          <p:cNvSpPr>
            <a:spLocks xmlns:a="http://schemas.openxmlformats.org/drawingml/2006/main" noGrp="1"/>
          </p:cNvSpPr>
          <p:nvPr/>
        </p:nvSpPr>
        <p:spPr>
          <a:xfrm xmlns:a="http://schemas.openxmlformats.org/drawingml/2006/main">
            <a:off x="800100" y="4933950"/>
            <a:ext cx="1059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0" i="0">
                <a:solidFill>
                  <a:srgbClr val="6B6F69"/>
                </a:solidFill>
                <a:latin typeface="Avenir Next"/>
                <a:ea typeface="Avenir Next"/>
                <a:cs typeface="Avenir Next"/>
              </a:defRPr>
            </a:pPr>
            <a:r>
              <a:rPr sz="1350" b="0" i="0">
                <a:solidFill>
                  <a:srgbClr val="6B6F69"/>
                </a:solidFill>
                <a:latin typeface="Avenir Next"/>
                <a:ea typeface="Avenir Next"/>
                <a:cs typeface="Avenir Next"/>
              </a:rPr>
              <a:t>Section-safe chunking   •   deterministic abstention   •   citation ID validation</a:t>
            </a:r>
          </a:p>
        </p:txBody>
      </p:sp>
      <p:sp>
        <p:nvSpPr>
          <p:cNvPr id="43" name="s3-footer">
            <a:extLst xmlns:a="http://schemas.openxmlformats.org/drawingml/2006/main">
              <a:ext uri="{FF2B5EF4-FFF2-40B4-BE49-F238E27FC236}">
                <a16:creationId xmlns:a16="http://schemas.microsoft.com/office/drawing/2014/main" id="{B9A4FA2C-AA0D-491A-B349-6389C9BE88D5}"/>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75" b="0" i="0">
                <a:solidFill>
                  <a:srgbClr val="6B6F69"/>
                </a:solidFill>
                <a:latin typeface="Avenir Next"/>
                <a:ea typeface="Avenir Next"/>
                <a:cs typeface="Avenir Next"/>
              </a:defRPr>
            </a:pPr>
            <a:r>
              <a:rPr sz="1275" b="0" i="0">
                <a:solidFill>
                  <a:srgbClr val="6B6F69"/>
                </a:solidFill>
                <a:latin typeface="Avenir Next"/>
                <a:ea typeface="Avenir Next"/>
                <a:cs typeface="Avenir Next"/>
              </a:rPr>
              <a:t>The query path remains on localhost; model download is the only first-run network dependency.</a:t>
            </a:r>
          </a:p>
        </p:txBody>
      </p:sp>
    </p:spTree>
    <p:extLst>
      <p:ext uri="{BB962C8B-B14F-4D97-AF65-F5344CB8AC3E}">
        <p14:creationId xmlns:p14="http://schemas.microsoft.com/office/powerpoint/2010/main" val="432844153"/>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7" name="brand-4">
            <a:extLst xmlns:a="http://schemas.openxmlformats.org/drawingml/2006/main">
              <a:ext uri="{FF2B5EF4-FFF2-40B4-BE49-F238E27FC236}">
                <a16:creationId xmlns:a16="http://schemas.microsoft.com/office/drawing/2014/main" id="{E3486073-1670-46A9-8938-2FFEC496FF77}"/>
              </a:ext>
            </a:extLst>
          </p:cNvPr>
          <p:cNvSpPr>
            <a:spLocks xmlns:a="http://schemas.openxmlformats.org/drawingml/2006/main" noGrp="1"/>
          </p:cNvSpPr>
          <p:nvPr/>
        </p:nvSpPr>
        <p:spPr>
          <a:xfrm xmlns:a="http://schemas.openxmlformats.org/drawingml/2006/main">
            <a:off x="685800" y="266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08171A"/>
                </a:solidFill>
                <a:latin typeface="Avenir Next"/>
                <a:ea typeface="Avenir Next"/>
                <a:cs typeface="Avenir Next"/>
              </a:defRPr>
            </a:pPr>
            <a:r>
              <a:rPr sz="1200" b="1" i="0">
                <a:solidFill>
                  <a:srgbClr val="08171A"/>
                </a:solidFill>
                <a:latin typeface="Avenir Next"/>
                <a:ea typeface="Avenir Next"/>
                <a:cs typeface="Avenir Next"/>
              </a:rPr>
              <a:t>TRACEFOLD</a:t>
            </a:r>
          </a:p>
        </p:txBody>
      </p:sp>
      <p:sp>
        <p:nvSpPr>
          <p:cNvPr id="2" name="fold-mark-a-4">
            <a:extLst xmlns:a="http://schemas.openxmlformats.org/drawingml/2006/main">
              <a:ext uri="{FF2B5EF4-FFF2-40B4-BE49-F238E27FC236}">
                <a16:creationId xmlns:a16="http://schemas.microsoft.com/office/drawing/2014/main" id="{F9A4B52F-F98A-4302-9231-37B58BC04ACF}"/>
              </a:ext>
            </a:extLst>
          </p:cNvPr>
          <p:cNvSpPr>
            <a:spLocks xmlns:a="http://schemas.openxmlformats.org/drawingml/2006/main" noGrp="1"/>
          </p:cNvSpPr>
          <p:nvPr/>
        </p:nvSpPr>
        <p:spPr>
          <a:xfrm xmlns:a="http://schemas.openxmlformats.org/drawingml/2006/main" rot="5400000">
            <a:off x="457200" y="2571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3" name="fold-mark-b-4">
            <a:extLst xmlns:a="http://schemas.openxmlformats.org/drawingml/2006/main">
              <a:ext uri="{FF2B5EF4-FFF2-40B4-BE49-F238E27FC236}">
                <a16:creationId xmlns:a16="http://schemas.microsoft.com/office/drawing/2014/main" id="{AF528BDC-B744-4703-BA6A-1FBD0747A7F2}"/>
              </a:ext>
            </a:extLst>
          </p:cNvPr>
          <p:cNvSpPr>
            <a:spLocks xmlns:a="http://schemas.openxmlformats.org/drawingml/2006/main" noGrp="1"/>
          </p:cNvSpPr>
          <p:nvPr/>
        </p:nvSpPr>
        <p:spPr>
          <a:xfrm xmlns:a="http://schemas.openxmlformats.org/drawingml/2006/main" rot="16200000">
            <a:off x="457200" y="3714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4" name="page-4">
            <a:extLst xmlns:a="http://schemas.openxmlformats.org/drawingml/2006/main">
              <a:ext uri="{FF2B5EF4-FFF2-40B4-BE49-F238E27FC236}">
                <a16:creationId xmlns:a16="http://schemas.microsoft.com/office/drawing/2014/main" id="{7A441609-AF1D-4D1B-8AA4-AAE9A65239CD}"/>
              </a:ext>
            </a:extLst>
          </p:cNvPr>
          <p:cNvSpPr>
            <a:spLocks xmlns:a="http://schemas.openxmlformats.org/drawingml/2006/main" noGrp="1"/>
          </p:cNvSpPr>
          <p:nvPr/>
        </p:nvSpPr>
        <p:spPr>
          <a:xfrm xmlns:a="http://schemas.openxmlformats.org/drawingml/2006/main">
            <a:off x="11239500" y="276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i="0">
                <a:solidFill>
                  <a:srgbClr val="6B6F69"/>
                </a:solidFill>
                <a:latin typeface="Avenir Next"/>
                <a:ea typeface="Avenir Next"/>
                <a:cs typeface="Avenir Next"/>
              </a:defRPr>
            </a:pPr>
            <a:r>
              <a:rPr sz="1200" b="0" i="0">
                <a:solidFill>
                  <a:srgbClr val="6B6F69"/>
                </a:solidFill>
                <a:latin typeface="Avenir Next"/>
                <a:ea typeface="Avenir Next"/>
                <a:cs typeface="Avenir Next"/>
              </a:rPr>
              <a:t>04</a:t>
            </a:r>
          </a:p>
        </p:txBody>
      </p:sp>
      <p:sp>
        <p:nvSpPr>
          <p:cNvPr id="5" name="s4-eyebrow">
            <a:extLst xmlns:a="http://schemas.openxmlformats.org/drawingml/2006/main">
              <a:ext uri="{FF2B5EF4-FFF2-40B4-BE49-F238E27FC236}">
                <a16:creationId xmlns:a16="http://schemas.microsoft.com/office/drawing/2014/main" id="{376A1CBA-296A-4E26-91EE-490726CE4F96}"/>
              </a:ext>
            </a:extLst>
          </p:cNvPr>
          <p:cNvSpPr>
            <a:spLocks xmlns:a="http://schemas.openxmlformats.org/drawingml/2006/main" noGrp="1"/>
          </p:cNvSpPr>
          <p:nvPr/>
        </p:nvSpPr>
        <p:spPr>
          <a:xfrm xmlns:a="http://schemas.openxmlformats.org/drawingml/2006/main">
            <a:off x="685800" y="781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PRODUCT DEMO</a:t>
            </a:r>
          </a:p>
        </p:txBody>
      </p:sp>
      <p:sp>
        <p:nvSpPr>
          <p:cNvPr id="6" name="s4-title">
            <a:extLst xmlns:a="http://schemas.openxmlformats.org/drawingml/2006/main">
              <a:ext uri="{FF2B5EF4-FFF2-40B4-BE49-F238E27FC236}">
                <a16:creationId xmlns:a16="http://schemas.microsoft.com/office/drawing/2014/main" id="{74549FF3-4F26-48A2-95F8-62DD3A75C9DC}"/>
              </a:ext>
            </a:extLst>
          </p:cNvPr>
          <p:cNvSpPr>
            <a:spLocks xmlns:a="http://schemas.openxmlformats.org/drawingml/2006/main" noGrp="1"/>
          </p:cNvSpPr>
          <p:nvPr/>
        </p:nvSpPr>
        <p:spPr>
          <a:xfrm xmlns:a="http://schemas.openxmlformats.org/drawingml/2006/main">
            <a:off x="685800" y="10477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0" i="0">
                <a:solidFill>
                  <a:srgbClr val="08171A"/>
                </a:solidFill>
                <a:latin typeface="Georgia"/>
                <a:ea typeface="Georgia"/>
                <a:cs typeface="Georgia"/>
              </a:defRPr>
            </a:pPr>
            <a:r>
              <a:rPr sz="3000" b="0" i="0">
                <a:solidFill>
                  <a:srgbClr val="08171A"/>
                </a:solidFill>
                <a:latin typeface="Georgia"/>
                <a:ea typeface="Georgia"/>
                <a:cs typeface="Georgia"/>
              </a:rPr>
              <a:t>A useful answer becomes trustworthy when the proof opens.</a:t>
            </a:r>
          </a:p>
        </p:txBody>
      </p:sp>
      <p:sp>
        <p:nvSpPr>
          <p:cNvPr id="7" name="s4-label-1">
            <a:extLst xmlns:a="http://schemas.openxmlformats.org/drawingml/2006/main">
              <a:ext uri="{FF2B5EF4-FFF2-40B4-BE49-F238E27FC236}">
                <a16:creationId xmlns:a16="http://schemas.microsoft.com/office/drawing/2014/main" id="{D607F0B4-7C71-4F27-B43E-51A809E32125}"/>
              </a:ext>
            </a:extLst>
          </p:cNvPr>
          <p:cNvSpPr>
            <a:spLocks xmlns:a="http://schemas.openxmlformats.org/drawingml/2006/main" noGrp="1"/>
          </p:cNvSpPr>
          <p:nvPr/>
        </p:nvSpPr>
        <p:spPr>
          <a:xfrm xmlns:a="http://schemas.openxmlformats.org/drawingml/2006/main">
            <a:off x="685800" y="16287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6B6F69"/>
                </a:solidFill>
                <a:latin typeface="Avenir Next"/>
                <a:ea typeface="Avenir Next"/>
                <a:cs typeface="Avenir Next"/>
              </a:defRPr>
            </a:pPr>
            <a:r>
              <a:rPr sz="1200" b="1" i="0">
                <a:solidFill>
                  <a:srgbClr val="6B6F69"/>
                </a:solidFill>
                <a:latin typeface="Avenir Next"/>
                <a:ea typeface="Avenir Next"/>
                <a:cs typeface="Avenir Next"/>
              </a:rPr>
              <a:t>01  INDEX LOCAL SOURCES</a:t>
            </a:r>
          </a:p>
        </p:txBody>
      </p:sp>
      <p:sp>
        <p:nvSpPr>
          <p:cNvPr id="8" name="s4-label-2">
            <a:extLst xmlns:a="http://schemas.openxmlformats.org/drawingml/2006/main">
              <a:ext uri="{FF2B5EF4-FFF2-40B4-BE49-F238E27FC236}">
                <a16:creationId xmlns:a16="http://schemas.microsoft.com/office/drawing/2014/main" id="{30248494-03CA-4974-8321-565D0B5C7068}"/>
              </a:ext>
            </a:extLst>
          </p:cNvPr>
          <p:cNvSpPr>
            <a:spLocks xmlns:a="http://schemas.openxmlformats.org/drawingml/2006/main" noGrp="1"/>
          </p:cNvSpPr>
          <p:nvPr/>
        </p:nvSpPr>
        <p:spPr>
          <a:xfrm xmlns:a="http://schemas.openxmlformats.org/drawingml/2006/main">
            <a:off x="4953000" y="1628775"/>
            <a:ext cx="655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6B6F69"/>
                </a:solidFill>
                <a:latin typeface="Avenir Next"/>
                <a:ea typeface="Avenir Next"/>
                <a:cs typeface="Avenir Next"/>
              </a:defRPr>
            </a:pPr>
            <a:r>
              <a:rPr sz="1200" b="1" i="0">
                <a:solidFill>
                  <a:srgbClr val="6B6F69"/>
                </a:solidFill>
                <a:latin typeface="Avenir Next"/>
                <a:ea typeface="Avenir Next"/>
                <a:cs typeface="Avenir Next"/>
              </a:rPr>
              <a:t>02  ASK — THEN OPEN THE PROOF</a:t>
            </a:r>
          </a:p>
        </p:txBody>
      </p:sp>
      <p:sp>
        <p:nvSpPr>
          <p:cNvPr id="9" name="s4-library-shadow">
            <a:extLst xmlns:a="http://schemas.openxmlformats.org/drawingml/2006/main">
              <a:ext uri="{FF2B5EF4-FFF2-40B4-BE49-F238E27FC236}">
                <a16:creationId xmlns:a16="http://schemas.microsoft.com/office/drawing/2014/main" id="{550BFB7C-2DF2-420F-AFF0-8CF0ADE5352C}"/>
              </a:ext>
            </a:extLst>
          </p:cNvPr>
          <p:cNvSpPr>
            <a:spLocks xmlns:a="http://schemas.openxmlformats.org/drawingml/2006/main" noGrp="1"/>
          </p:cNvSpPr>
          <p:nvPr/>
        </p:nvSpPr>
        <p:spPr>
          <a:xfrm xmlns:a="http://schemas.openxmlformats.org/drawingml/2006/main">
            <a:off x="685800" y="1971675"/>
            <a:ext cx="4000500" cy="2505075"/>
          </a:xfrm>
          <a:prstGeom xmlns:a="http://schemas.openxmlformats.org/drawingml/2006/main" prst="roundRect">
            <a:avLst>
              <a:gd name="adj" fmla="val 6844"/>
            </a:avLst>
          </a:prstGeom>
          <a:solidFill xmlns:a="http://schemas.openxmlformats.org/drawingml/2006/main">
            <a:srgbClr val="C6BDA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be8ef556054616"/>
          <a:srcRect xmlns:a="http://schemas.openxmlformats.org/drawingml/2006/main" l="95" t="0" r="95" b="0"/>
          <a:stretch xmlns:a="http://schemas.openxmlformats.org/drawingml/2006/main">
            <a:fillRect l="0" t="0" r="0" b="0"/>
          </a:stretch>
        </p:blipFill>
        <p:spPr>
          <a:xfrm xmlns:a="http://schemas.openxmlformats.org/drawingml/2006/main">
            <a:off x="685800" y="1924050"/>
            <a:ext cx="4000500" cy="2505075"/>
          </a:xfrm>
          <a:prstGeom xmlns:a="http://schemas.openxmlformats.org/drawingml/2006/main" prst="roundRect">
            <a:avLst>
              <a:gd name="adj" fmla="val 6844"/>
            </a:avLst>
          </a:prstGeom>
        </p:spPr>
      </p:pic>
      <p:sp>
        <p:nvSpPr>
          <p:cNvPr id="11" name="s4-evidence-shadow">
            <a:extLst xmlns:a="http://schemas.openxmlformats.org/drawingml/2006/main">
              <a:ext uri="{FF2B5EF4-FFF2-40B4-BE49-F238E27FC236}">
                <a16:creationId xmlns:a16="http://schemas.microsoft.com/office/drawing/2014/main" id="{8C20852A-4BD4-4BF2-B2A4-0D946D192D31}"/>
              </a:ext>
            </a:extLst>
          </p:cNvPr>
          <p:cNvSpPr>
            <a:spLocks xmlns:a="http://schemas.openxmlformats.org/drawingml/2006/main" noGrp="1"/>
          </p:cNvSpPr>
          <p:nvPr/>
        </p:nvSpPr>
        <p:spPr>
          <a:xfrm xmlns:a="http://schemas.openxmlformats.org/drawingml/2006/main">
            <a:off x="4953000" y="1971675"/>
            <a:ext cx="6553200" cy="4095750"/>
          </a:xfrm>
          <a:prstGeom xmlns:a="http://schemas.openxmlformats.org/drawingml/2006/main" prst="roundRect">
            <a:avLst>
              <a:gd name="adj" fmla="val 4186"/>
            </a:avLst>
          </a:prstGeom>
          <a:solidFill xmlns:a="http://schemas.openxmlformats.org/drawingml/2006/main">
            <a:srgbClr val="C6BDAF"/>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4277344d8654b83"/>
          <a:srcRect xmlns:a="http://schemas.openxmlformats.org/drawingml/2006/main" l="0" t="0" r="0" b="0"/>
          <a:stretch xmlns:a="http://schemas.openxmlformats.org/drawingml/2006/main">
            <a:fillRect l="0" t="0" r="0" b="0"/>
          </a:stretch>
        </p:blipFill>
        <p:spPr>
          <a:xfrm xmlns:a="http://schemas.openxmlformats.org/drawingml/2006/main">
            <a:off x="4953000" y="1924050"/>
            <a:ext cx="6553200" cy="4095750"/>
          </a:xfrm>
          <a:prstGeom xmlns:a="http://schemas.openxmlformats.org/drawingml/2006/main" prst="roundRect">
            <a:avLst>
              <a:gd name="adj" fmla="val 4186"/>
            </a:avLst>
          </a:prstGeom>
        </p:spPr>
      </p:pic>
      <p:sp>
        <p:nvSpPr>
          <p:cNvPr id="13" name="s4-callout">
            <a:extLst xmlns:a="http://schemas.openxmlformats.org/drawingml/2006/main">
              <a:ext uri="{FF2B5EF4-FFF2-40B4-BE49-F238E27FC236}">
                <a16:creationId xmlns:a16="http://schemas.microsoft.com/office/drawing/2014/main" id="{7367E5C1-FA45-44E2-815C-251B7EAC843A}"/>
              </a:ext>
            </a:extLst>
          </p:cNvPr>
          <p:cNvSpPr>
            <a:spLocks xmlns:a="http://schemas.openxmlformats.org/drawingml/2006/main" noGrp="1"/>
          </p:cNvSpPr>
          <p:nvPr/>
        </p:nvSpPr>
        <p:spPr>
          <a:xfrm xmlns:a="http://schemas.openxmlformats.org/drawingml/2006/main">
            <a:off x="685800" y="4648200"/>
            <a:ext cx="4000500" cy="1371600"/>
          </a:xfrm>
          <a:prstGeom xmlns:a="http://schemas.openxmlformats.org/drawingml/2006/main" prst="roundRect">
            <a:avLst>
              <a:gd name="adj" fmla="val 12500"/>
            </a:avLst>
          </a:prstGeom>
          <a:solidFill xmlns:a="http://schemas.openxmlformats.org/drawingml/2006/main">
            <a:srgbClr val="08171A"/>
          </a:solidFill>
          <a:ln xmlns:a="http://schemas.openxmlformats.org/drawingml/2006/main" w="0">
            <a:noFill/>
            <a:prstDash val="solid"/>
          </a:ln>
        </p:spPr>
      </p:sp>
      <p:sp>
        <p:nvSpPr>
          <p:cNvPr id="14" name="s4-callout-kicker">
            <a:extLst xmlns:a="http://schemas.openxmlformats.org/drawingml/2006/main">
              <a:ext uri="{FF2B5EF4-FFF2-40B4-BE49-F238E27FC236}">
                <a16:creationId xmlns:a16="http://schemas.microsoft.com/office/drawing/2014/main" id="{0158D544-1506-4973-9C12-299E350D2499}"/>
              </a:ext>
            </a:extLst>
          </p:cNvPr>
          <p:cNvSpPr>
            <a:spLocks xmlns:a="http://schemas.openxmlformats.org/drawingml/2006/main" noGrp="1"/>
          </p:cNvSpPr>
          <p:nvPr/>
        </p:nvSpPr>
        <p:spPr>
          <a:xfrm xmlns:a="http://schemas.openxmlformats.org/drawingml/2006/main">
            <a:off x="895350" y="4838700"/>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8 DOCUMENTS · 53 PASSAGES</a:t>
            </a:r>
          </a:p>
        </p:txBody>
      </p:sp>
      <p:sp>
        <p:nvSpPr>
          <p:cNvPr id="15" name="s4-callout-question">
            <a:extLst xmlns:a="http://schemas.openxmlformats.org/drawingml/2006/main">
              <a:ext uri="{FF2B5EF4-FFF2-40B4-BE49-F238E27FC236}">
                <a16:creationId xmlns:a16="http://schemas.microsoft.com/office/drawing/2014/main" id="{AD0B28CF-07F7-4092-91ED-9B378E600F09}"/>
              </a:ext>
            </a:extLst>
          </p:cNvPr>
          <p:cNvSpPr>
            <a:spLocks xmlns:a="http://schemas.openxmlformats.org/drawingml/2006/main" noGrp="1"/>
          </p:cNvSpPr>
          <p:nvPr/>
        </p:nvSpPr>
        <p:spPr>
          <a:xfrm xmlns:a="http://schemas.openxmlformats.org/drawingml/2006/main">
            <a:off x="895350" y="5153025"/>
            <a:ext cx="3562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1875" b="0" i="0">
                <a:solidFill>
                  <a:srgbClr val="F4F0E8"/>
                </a:solidFill>
                <a:latin typeface="Georgia"/>
                <a:ea typeface="Georgia"/>
                <a:cs typeface="Georgia"/>
              </a:defRPr>
            </a:pPr>
            <a:r>
              <a:rPr sz="1875" b="0" i="0">
                <a:solidFill>
                  <a:srgbClr val="F4F0E8"/>
                </a:solidFill>
                <a:latin typeface="Georgia"/>
                <a:ea typeface="Georgia"/>
                <a:cs typeface="Georgia"/>
              </a:rPr>
              <a:t>“I’ll arrive after 20:00.</a:t>
            </a:r>
          </a:p>
          <a:p xmlns:a="http://schemas.openxmlformats.org/drawingml/2006/main">
            <a:pPr algn="l">
              <a:lnSpc>
                <a:spcPct val="92000"/>
              </a:lnSpc>
              <a:buNone/>
              <a:defRPr sz="1875" b="0" i="0">
                <a:solidFill>
                  <a:srgbClr val="F4F0E8"/>
                </a:solidFill>
                <a:latin typeface="Georgia"/>
                <a:ea typeface="Georgia"/>
                <a:cs typeface="Georgia"/>
              </a:defRPr>
            </a:pPr>
            <a:r>
              <a:rPr sz="1875" b="0" i="0">
                <a:solidFill>
                  <a:srgbClr val="F4F0E8"/>
                </a:solidFill>
                <a:latin typeface="Georgia"/>
                <a:ea typeface="Georgia"/>
                <a:cs typeface="Georgia"/>
              </a:rPr>
              <a:t>What should I do?”</a:t>
            </a:r>
          </a:p>
        </p:txBody>
      </p:sp>
      <p:sp>
        <p:nvSpPr>
          <p:cNvPr id="16" name="s4-caption">
            <a:extLst xmlns:a="http://schemas.openxmlformats.org/drawingml/2006/main">
              <a:ext uri="{FF2B5EF4-FFF2-40B4-BE49-F238E27FC236}">
                <a16:creationId xmlns:a16="http://schemas.microsoft.com/office/drawing/2014/main" id="{57D7FA09-28DD-453F-9F37-B67748DD47CB}"/>
              </a:ext>
            </a:extLst>
          </p:cNvPr>
          <p:cNvSpPr>
            <a:spLocks xmlns:a="http://schemas.openxmlformats.org/drawingml/2006/main" noGrp="1"/>
          </p:cNvSpPr>
          <p:nvPr/>
        </p:nvSpPr>
        <p:spPr>
          <a:xfrm xmlns:a="http://schemas.openxmlformats.org/drawingml/2006/main">
            <a:off x="4953000" y="6181725"/>
            <a:ext cx="655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i="0">
                <a:solidFill>
                  <a:srgbClr val="6B6F69"/>
                </a:solidFill>
                <a:latin typeface="Avenir Next"/>
                <a:ea typeface="Avenir Next"/>
                <a:cs typeface="Avenir Next"/>
              </a:defRPr>
            </a:pPr>
            <a:r>
              <a:rPr sz="1275" b="0" i="0">
                <a:solidFill>
                  <a:srgbClr val="6B6F69"/>
                </a:solidFill>
                <a:latin typeface="Avenir Next"/>
                <a:ea typeface="Avenir Next"/>
                <a:cs typeface="Avenir Next"/>
              </a:rPr>
              <a:t>Open citation [1] → exact file, chunk, similarity score, and stored passage.</a:t>
            </a:r>
          </a:p>
        </p:txBody>
      </p:sp>
    </p:spTree>
    <p:extLst>
      <p:ext uri="{BB962C8B-B14F-4D97-AF65-F5344CB8AC3E}">
        <p14:creationId xmlns:p14="http://schemas.microsoft.com/office/powerpoint/2010/main" val="1507656685"/>
      </p:ext>
    </p:extLst>
  </p:cSld>
</p:sld>
</file>

<file path=ppt/slides/slide5.xml><?xml version="1.0" encoding="utf-8"?>
<p:sld xmlns:p="http://schemas.openxmlformats.org/presentationml/2006/main">
  <p:cSld>
    <p:bg>
      <p:bgPr>
        <a:solidFill xmlns:a="http://schemas.openxmlformats.org/drawingml/2006/main">
          <a:srgbClr val="08171A"/>
        </a:solidFill>
      </p:bgPr>
    </p:bg>
    <p:spTree>
      <p:nvGrpSpPr>
        <p:cNvPr id="1" name=""/>
        <p:cNvGrpSpPr/>
        <p:nvPr/>
      </p:nvGrpSpPr>
      <p:grpSpPr>
        <a:xfrm xmlns:a="http://schemas.openxmlformats.org/drawingml/2006/main"/>
      </p:grpSpPr>
      <p:sp>
        <p:nvSpPr>
          <p:cNvPr id="19" name="brand-5">
            <a:extLst xmlns:a="http://schemas.openxmlformats.org/drawingml/2006/main">
              <a:ext uri="{FF2B5EF4-FFF2-40B4-BE49-F238E27FC236}">
                <a16:creationId xmlns:a16="http://schemas.microsoft.com/office/drawing/2014/main" id="{3AC76AF7-BB77-4D5D-B3FE-D0FB2987FD86}"/>
              </a:ext>
            </a:extLst>
          </p:cNvPr>
          <p:cNvSpPr>
            <a:spLocks xmlns:a="http://schemas.openxmlformats.org/drawingml/2006/main" noGrp="1"/>
          </p:cNvSpPr>
          <p:nvPr/>
        </p:nvSpPr>
        <p:spPr>
          <a:xfrm xmlns:a="http://schemas.openxmlformats.org/drawingml/2006/main">
            <a:off x="685800" y="266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4F0E8"/>
                </a:solidFill>
                <a:latin typeface="Avenir Next"/>
                <a:ea typeface="Avenir Next"/>
                <a:cs typeface="Avenir Next"/>
              </a:defRPr>
            </a:pPr>
            <a:r>
              <a:rPr sz="1200" b="1" i="0">
                <a:solidFill>
                  <a:srgbClr val="F4F0E8"/>
                </a:solidFill>
                <a:latin typeface="Avenir Next"/>
                <a:ea typeface="Avenir Next"/>
                <a:cs typeface="Avenir Next"/>
              </a:rPr>
              <a:t>TRACEFOLD</a:t>
            </a:r>
          </a:p>
        </p:txBody>
      </p:sp>
      <p:sp>
        <p:nvSpPr>
          <p:cNvPr id="2" name="fold-mark-a-5">
            <a:extLst xmlns:a="http://schemas.openxmlformats.org/drawingml/2006/main">
              <a:ext uri="{FF2B5EF4-FFF2-40B4-BE49-F238E27FC236}">
                <a16:creationId xmlns:a16="http://schemas.microsoft.com/office/drawing/2014/main" id="{44E008CC-9E43-468C-86DA-05E365EC96D9}"/>
              </a:ext>
            </a:extLst>
          </p:cNvPr>
          <p:cNvSpPr>
            <a:spLocks xmlns:a="http://schemas.openxmlformats.org/drawingml/2006/main" noGrp="1"/>
          </p:cNvSpPr>
          <p:nvPr/>
        </p:nvSpPr>
        <p:spPr>
          <a:xfrm xmlns:a="http://schemas.openxmlformats.org/drawingml/2006/main" rot="5400000">
            <a:off x="457200" y="2571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3" name="fold-mark-b-5">
            <a:extLst xmlns:a="http://schemas.openxmlformats.org/drawingml/2006/main">
              <a:ext uri="{FF2B5EF4-FFF2-40B4-BE49-F238E27FC236}">
                <a16:creationId xmlns:a16="http://schemas.microsoft.com/office/drawing/2014/main" id="{96DC6C92-2C2E-4E10-9AE7-350AF282228B}"/>
              </a:ext>
            </a:extLst>
          </p:cNvPr>
          <p:cNvSpPr>
            <a:spLocks xmlns:a="http://schemas.openxmlformats.org/drawingml/2006/main" noGrp="1"/>
          </p:cNvSpPr>
          <p:nvPr/>
        </p:nvSpPr>
        <p:spPr>
          <a:xfrm xmlns:a="http://schemas.openxmlformats.org/drawingml/2006/main" rot="16200000">
            <a:off x="457200" y="3714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4" name="page-5">
            <a:extLst xmlns:a="http://schemas.openxmlformats.org/drawingml/2006/main">
              <a:ext uri="{FF2B5EF4-FFF2-40B4-BE49-F238E27FC236}">
                <a16:creationId xmlns:a16="http://schemas.microsoft.com/office/drawing/2014/main" id="{CAAE3639-DE53-49FC-A17F-5B629E3444B0}"/>
              </a:ext>
            </a:extLst>
          </p:cNvPr>
          <p:cNvSpPr>
            <a:spLocks xmlns:a="http://schemas.openxmlformats.org/drawingml/2006/main" noGrp="1"/>
          </p:cNvSpPr>
          <p:nvPr/>
        </p:nvSpPr>
        <p:spPr>
          <a:xfrm xmlns:a="http://schemas.openxmlformats.org/drawingml/2006/main">
            <a:off x="11239500" y="276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05</a:t>
            </a:r>
          </a:p>
        </p:txBody>
      </p:sp>
      <p:sp>
        <p:nvSpPr>
          <p:cNvPr id="5" name="s5-eyebrow">
            <a:extLst xmlns:a="http://schemas.openxmlformats.org/drawingml/2006/main">
              <a:ext uri="{FF2B5EF4-FFF2-40B4-BE49-F238E27FC236}">
                <a16:creationId xmlns:a16="http://schemas.microsoft.com/office/drawing/2014/main" id="{4C66C5F9-4C01-4813-9D4F-37E3DC46C899}"/>
              </a:ext>
            </a:extLst>
          </p:cNvPr>
          <p:cNvSpPr>
            <a:spLocks xmlns:a="http://schemas.openxmlformats.org/drawingml/2006/main" noGrp="1"/>
          </p:cNvSpPr>
          <p:nvPr/>
        </p:nvSpPr>
        <p:spPr>
          <a:xfrm xmlns:a="http://schemas.openxmlformats.org/drawingml/2006/main">
            <a:off x="685800" y="781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RELEASE EVIDENCE</a:t>
            </a:r>
          </a:p>
        </p:txBody>
      </p:sp>
      <p:sp>
        <p:nvSpPr>
          <p:cNvPr id="6" name="s5-title">
            <a:extLst xmlns:a="http://schemas.openxmlformats.org/drawingml/2006/main">
              <a:ext uri="{FF2B5EF4-FFF2-40B4-BE49-F238E27FC236}">
                <a16:creationId xmlns:a16="http://schemas.microsoft.com/office/drawing/2014/main" id="{DF4CD0B4-128A-41A4-8916-5D5B240CB3D3}"/>
              </a:ext>
            </a:extLst>
          </p:cNvPr>
          <p:cNvSpPr>
            <a:spLocks xmlns:a="http://schemas.openxmlformats.org/drawingml/2006/main" noGrp="1"/>
          </p:cNvSpPr>
          <p:nvPr/>
        </p:nvSpPr>
        <p:spPr>
          <a:xfrm xmlns:a="http://schemas.openxmlformats.org/drawingml/2006/main">
            <a:off x="685800" y="10477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300" b="0" i="0">
                <a:solidFill>
                  <a:srgbClr val="F4F0E8"/>
                </a:solidFill>
                <a:latin typeface="Georgia"/>
                <a:ea typeface="Georgia"/>
                <a:cs typeface="Georgia"/>
              </a:defRPr>
            </a:pPr>
            <a:r>
              <a:rPr sz="3300" b="0" i="0">
                <a:solidFill>
                  <a:srgbClr val="F4F0E8"/>
                </a:solidFill>
                <a:latin typeface="Georgia"/>
                <a:ea typeface="Georgia"/>
                <a:cs typeface="Georgia"/>
              </a:rPr>
              <a:t>Trust is measured, not assumed.</a:t>
            </a:r>
          </a:p>
        </p:txBody>
      </p:sp>
      <p:sp>
        <p:nvSpPr>
          <p:cNvPr id="7" name="s5-subtitle">
            <a:extLst xmlns:a="http://schemas.openxmlformats.org/drawingml/2006/main">
              <a:ext uri="{FF2B5EF4-FFF2-40B4-BE49-F238E27FC236}">
                <a16:creationId xmlns:a16="http://schemas.microsoft.com/office/drawing/2014/main" id="{1698E10C-EF4A-4FAC-8CEA-41BEE6B8E020}"/>
              </a:ext>
            </a:extLst>
          </p:cNvPr>
          <p:cNvSpPr>
            <a:spLocks xmlns:a="http://schemas.openxmlformats.org/drawingml/2006/main" noGrp="1"/>
          </p:cNvSpPr>
          <p:nvPr/>
        </p:nvSpPr>
        <p:spPr>
          <a:xfrm xmlns:a="http://schemas.openxmlformats.org/drawingml/2006/main">
            <a:off x="685800" y="1609725"/>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Real Foundry Local run · 8 answerable + 4 unanswerable cases</a:t>
            </a:r>
          </a:p>
        </p:txBody>
      </p:sp>
      <p:sp>
        <p:nvSpPr>
          <p:cNvPr id="8" name="s5-m1">
            <a:extLst xmlns:a="http://schemas.openxmlformats.org/drawingml/2006/main">
              <a:ext uri="{FF2B5EF4-FFF2-40B4-BE49-F238E27FC236}">
                <a16:creationId xmlns:a16="http://schemas.microsoft.com/office/drawing/2014/main" id="{86E5EB84-026F-495D-AFB7-1E9C7EBE280D}"/>
              </a:ext>
            </a:extLst>
          </p:cNvPr>
          <p:cNvSpPr>
            <a:spLocks xmlns:a="http://schemas.openxmlformats.org/drawingml/2006/main" noGrp="1"/>
          </p:cNvSpPr>
          <p:nvPr/>
        </p:nvSpPr>
        <p:spPr>
          <a:xfrm xmlns:a="http://schemas.openxmlformats.org/drawingml/2006/main">
            <a:off x="685800" y="2190750"/>
            <a:ext cx="314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5400" b="0" i="0">
                <a:solidFill>
                  <a:srgbClr val="CF7440"/>
                </a:solidFill>
                <a:latin typeface="Georgia"/>
                <a:ea typeface="Georgia"/>
                <a:cs typeface="Georgia"/>
              </a:defRPr>
            </a:pPr>
            <a:r>
              <a:rPr sz="5400" b="0" i="0">
                <a:solidFill>
                  <a:srgbClr val="CF7440"/>
                </a:solidFill>
                <a:latin typeface="Georgia"/>
                <a:ea typeface="Georgia"/>
                <a:cs typeface="Georgia"/>
              </a:rPr>
              <a:t>12/12</a:t>
            </a:r>
          </a:p>
        </p:txBody>
      </p:sp>
      <p:sp>
        <p:nvSpPr>
          <p:cNvPr id="9" name="s5-m1-label">
            <a:extLst xmlns:a="http://schemas.openxmlformats.org/drawingml/2006/main">
              <a:ext uri="{FF2B5EF4-FFF2-40B4-BE49-F238E27FC236}">
                <a16:creationId xmlns:a16="http://schemas.microsoft.com/office/drawing/2014/main" id="{99BCAC09-DD46-487A-A78E-4EA0F4493A95}"/>
              </a:ext>
            </a:extLst>
          </p:cNvPr>
          <p:cNvSpPr>
            <a:spLocks xmlns:a="http://schemas.openxmlformats.org/drawingml/2006/main" noGrp="1"/>
          </p:cNvSpPr>
          <p:nvPr/>
        </p:nvSpPr>
        <p:spPr>
          <a:xfrm xmlns:a="http://schemas.openxmlformats.org/drawingml/2006/main">
            <a:off x="723900" y="29051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i="0">
                <a:solidFill>
                  <a:srgbClr val="F4F0E8"/>
                </a:solidFill>
                <a:latin typeface="Avenir Next"/>
                <a:ea typeface="Avenir Next"/>
                <a:cs typeface="Avenir Next"/>
              </a:defRPr>
            </a:pPr>
            <a:r>
              <a:rPr sz="1500" b="1" i="0">
                <a:solidFill>
                  <a:srgbClr val="F4F0E8"/>
                </a:solidFill>
                <a:latin typeface="Avenir Next"/>
                <a:ea typeface="Avenir Next"/>
                <a:cs typeface="Avenir Next"/>
              </a:rPr>
              <a:t>release cases passed</a:t>
            </a:r>
          </a:p>
        </p:txBody>
      </p:sp>
      <p:sp>
        <p:nvSpPr>
          <p:cNvPr id="10" name="s5-r1">
            <a:extLst xmlns:a="http://schemas.openxmlformats.org/drawingml/2006/main">
              <a:ext uri="{FF2B5EF4-FFF2-40B4-BE49-F238E27FC236}">
                <a16:creationId xmlns:a16="http://schemas.microsoft.com/office/drawing/2014/main" id="{807020C7-DAC8-43E2-A514-0E39913AFB6E}"/>
              </a:ext>
            </a:extLst>
          </p:cNvPr>
          <p:cNvSpPr>
            <a:spLocks xmlns:a="http://schemas.openxmlformats.org/drawingml/2006/main" noGrp="1"/>
          </p:cNvSpPr>
          <p:nvPr/>
        </p:nvSpPr>
        <p:spPr>
          <a:xfrm xmlns:a="http://schemas.openxmlformats.org/drawingml/2006/main">
            <a:off x="685800" y="3343275"/>
            <a:ext cx="3048000" cy="9525"/>
          </a:xfrm>
          <a:prstGeom xmlns:a="http://schemas.openxmlformats.org/drawingml/2006/main" prst="rect">
            <a:avLst/>
          </a:prstGeom>
          <a:solidFill xmlns:a="http://schemas.openxmlformats.org/drawingml/2006/main">
            <a:srgbClr val="385054"/>
          </a:solidFill>
          <a:ln xmlns:a="http://schemas.openxmlformats.org/drawingml/2006/main" w="0">
            <a:noFill/>
            <a:prstDash val="solid"/>
          </a:ln>
        </p:spPr>
      </p:sp>
      <p:sp>
        <p:nvSpPr>
          <p:cNvPr id="11" name="s5-m2">
            <a:extLst xmlns:a="http://schemas.openxmlformats.org/drawingml/2006/main">
              <a:ext uri="{FF2B5EF4-FFF2-40B4-BE49-F238E27FC236}">
                <a16:creationId xmlns:a16="http://schemas.microsoft.com/office/drawing/2014/main" id="{B262B1A3-02C8-4EFC-91D8-A7D00629DCD8}"/>
              </a:ext>
            </a:extLst>
          </p:cNvPr>
          <p:cNvSpPr>
            <a:spLocks xmlns:a="http://schemas.openxmlformats.org/drawingml/2006/main" noGrp="1"/>
          </p:cNvSpPr>
          <p:nvPr/>
        </p:nvSpPr>
        <p:spPr>
          <a:xfrm xmlns:a="http://schemas.openxmlformats.org/drawingml/2006/main">
            <a:off x="685800" y="35433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050" b="0" i="0">
                <a:solidFill>
                  <a:srgbClr val="F4F0E8"/>
                </a:solidFill>
                <a:latin typeface="Georgia"/>
                <a:ea typeface="Georgia"/>
                <a:cs typeface="Georgia"/>
              </a:defRPr>
            </a:pPr>
            <a:r>
              <a:rPr sz="4050" b="0" i="0">
                <a:solidFill>
                  <a:srgbClr val="F4F0E8"/>
                </a:solidFill>
                <a:latin typeface="Georgia"/>
                <a:ea typeface="Georgia"/>
                <a:cs typeface="Georgia"/>
              </a:rPr>
              <a:t>100%</a:t>
            </a:r>
          </a:p>
        </p:txBody>
      </p:sp>
      <p:sp>
        <p:nvSpPr>
          <p:cNvPr id="12" name="s5-m2-label">
            <a:extLst xmlns:a="http://schemas.openxmlformats.org/drawingml/2006/main">
              <a:ext uri="{FF2B5EF4-FFF2-40B4-BE49-F238E27FC236}">
                <a16:creationId xmlns:a16="http://schemas.microsoft.com/office/drawing/2014/main" id="{9F792DA7-649F-4A9B-85C4-69B3F63DEDC0}"/>
              </a:ext>
            </a:extLst>
          </p:cNvPr>
          <p:cNvSpPr>
            <a:spLocks xmlns:a="http://schemas.openxmlformats.org/drawingml/2006/main" noGrp="1"/>
          </p:cNvSpPr>
          <p:nvPr/>
        </p:nvSpPr>
        <p:spPr>
          <a:xfrm xmlns:a="http://schemas.openxmlformats.org/drawingml/2006/main">
            <a:off x="723900" y="41719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Hit@5 · source coverage</a:t>
            </a:r>
          </a:p>
          <a:p xmlns:a="http://schemas.openxmlformats.org/drawingml/2006/main">
            <a:pPr algn="l">
              <a:lnSpc>
                <a:spcPct val="105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citation validity · safe refusal</a:t>
            </a:r>
          </a:p>
        </p:txBody>
      </p:sp>
      <p:sp>
        <p:nvSpPr>
          <p:cNvPr id="13" name="s5-r2">
            <a:extLst xmlns:a="http://schemas.openxmlformats.org/drawingml/2006/main">
              <a:ext uri="{FF2B5EF4-FFF2-40B4-BE49-F238E27FC236}">
                <a16:creationId xmlns:a16="http://schemas.microsoft.com/office/drawing/2014/main" id="{CDF5F3BE-AB5B-4A86-AD6F-1EAE3D006B4B}"/>
              </a:ext>
            </a:extLst>
          </p:cNvPr>
          <p:cNvSpPr>
            <a:spLocks xmlns:a="http://schemas.openxmlformats.org/drawingml/2006/main" noGrp="1"/>
          </p:cNvSpPr>
          <p:nvPr/>
        </p:nvSpPr>
        <p:spPr>
          <a:xfrm xmlns:a="http://schemas.openxmlformats.org/drawingml/2006/main">
            <a:off x="685800" y="4867275"/>
            <a:ext cx="3048000" cy="9525"/>
          </a:xfrm>
          <a:prstGeom xmlns:a="http://schemas.openxmlformats.org/drawingml/2006/main" prst="rect">
            <a:avLst/>
          </a:prstGeom>
          <a:solidFill xmlns:a="http://schemas.openxmlformats.org/drawingml/2006/main">
            <a:srgbClr val="385054"/>
          </a:solidFill>
          <a:ln xmlns:a="http://schemas.openxmlformats.org/drawingml/2006/main" w="0">
            <a:noFill/>
            <a:prstDash val="solid"/>
          </a:ln>
        </p:spPr>
      </p:sp>
      <p:sp>
        <p:nvSpPr>
          <p:cNvPr id="14" name="s5-m3">
            <a:extLst xmlns:a="http://schemas.openxmlformats.org/drawingml/2006/main">
              <a:ext uri="{FF2B5EF4-FFF2-40B4-BE49-F238E27FC236}">
                <a16:creationId xmlns:a16="http://schemas.microsoft.com/office/drawing/2014/main" id="{BE77A3FE-7118-413C-A280-4F58397DA404}"/>
              </a:ext>
            </a:extLst>
          </p:cNvPr>
          <p:cNvSpPr>
            <a:spLocks xmlns:a="http://schemas.openxmlformats.org/drawingml/2006/main" noGrp="1"/>
          </p:cNvSpPr>
          <p:nvPr/>
        </p:nvSpPr>
        <p:spPr>
          <a:xfrm xmlns:a="http://schemas.openxmlformats.org/drawingml/2006/main">
            <a:off x="685800" y="50673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225" b="0" i="0">
                <a:solidFill>
                  <a:srgbClr val="F4F0E8"/>
                </a:solidFill>
                <a:latin typeface="Georgia"/>
                <a:ea typeface="Georgia"/>
                <a:cs typeface="Georgia"/>
              </a:defRPr>
            </a:pPr>
            <a:r>
              <a:rPr sz="3225" b="0" i="0">
                <a:solidFill>
                  <a:srgbClr val="F4F0E8"/>
                </a:solidFill>
                <a:latin typeface="Georgia"/>
                <a:ea typeface="Georgia"/>
                <a:cs typeface="Georgia"/>
              </a:rPr>
              <a:t>95.56 ms</a:t>
            </a:r>
          </a:p>
        </p:txBody>
      </p:sp>
      <p:sp>
        <p:nvSpPr>
          <p:cNvPr id="15" name="s5-m3-label">
            <a:extLst xmlns:a="http://schemas.openxmlformats.org/drawingml/2006/main">
              <a:ext uri="{FF2B5EF4-FFF2-40B4-BE49-F238E27FC236}">
                <a16:creationId xmlns:a16="http://schemas.microsoft.com/office/drawing/2014/main" id="{062208AE-802D-4361-A631-994E22934D07}"/>
              </a:ext>
            </a:extLst>
          </p:cNvPr>
          <p:cNvSpPr>
            <a:spLocks xmlns:a="http://schemas.openxmlformats.org/drawingml/2006/main" noGrp="1"/>
          </p:cNvSpPr>
          <p:nvPr/>
        </p:nvSpPr>
        <p:spPr>
          <a:xfrm xmlns:a="http://schemas.openxmlformats.org/drawingml/2006/main">
            <a:off x="723900" y="56007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warm retrieval p95</a:t>
            </a:r>
          </a:p>
        </p:txBody>
      </p:sp>
      <p:sp>
        <p:nvSpPr>
          <p:cNvPr id="16" name="s5-quality-shadow">
            <a:extLst xmlns:a="http://schemas.openxmlformats.org/drawingml/2006/main">
              <a:ext uri="{FF2B5EF4-FFF2-40B4-BE49-F238E27FC236}">
                <a16:creationId xmlns:a16="http://schemas.microsoft.com/office/drawing/2014/main" id="{02CFE2F3-F21D-49F5-A714-08E0E0EB4938}"/>
              </a:ext>
            </a:extLst>
          </p:cNvPr>
          <p:cNvSpPr>
            <a:spLocks xmlns:a="http://schemas.openxmlformats.org/drawingml/2006/main" noGrp="1"/>
          </p:cNvSpPr>
          <p:nvPr/>
        </p:nvSpPr>
        <p:spPr>
          <a:xfrm xmlns:a="http://schemas.openxmlformats.org/drawingml/2006/main">
            <a:off x="4114800" y="2124075"/>
            <a:ext cx="7391400" cy="4619625"/>
          </a:xfrm>
          <a:prstGeom xmlns:a="http://schemas.openxmlformats.org/drawingml/2006/main" prst="roundRect">
            <a:avLst>
              <a:gd name="adj" fmla="val 3711"/>
            </a:avLst>
          </a:prstGeom>
          <a:solidFill xmlns:a="http://schemas.openxmlformats.org/drawingml/2006/main">
            <a:srgbClr val="020809"/>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75e259a600d4378"/>
          <a:srcRect xmlns:a="http://schemas.openxmlformats.org/drawingml/2006/main" l="0" t="0" r="0" b="0"/>
          <a:stretch xmlns:a="http://schemas.openxmlformats.org/drawingml/2006/main">
            <a:fillRect l="0" t="0" r="0" b="0"/>
          </a:stretch>
        </p:blipFill>
        <p:spPr>
          <a:xfrm xmlns:a="http://schemas.openxmlformats.org/drawingml/2006/main">
            <a:off x="4114800" y="2076450"/>
            <a:ext cx="7391400" cy="4619625"/>
          </a:xfrm>
          <a:prstGeom xmlns:a="http://schemas.openxmlformats.org/drawingml/2006/main" prst="roundRect">
            <a:avLst>
              <a:gd name="adj" fmla="val 3711"/>
            </a:avLst>
          </a:prstGeom>
        </p:spPr>
      </p:pic>
      <p:sp>
        <p:nvSpPr>
          <p:cNvPr id="18" name="s5-context">
            <a:extLst xmlns:a="http://schemas.openxmlformats.org/drawingml/2006/main">
              <a:ext uri="{FF2B5EF4-FFF2-40B4-BE49-F238E27FC236}">
                <a16:creationId xmlns:a16="http://schemas.microsoft.com/office/drawing/2014/main" id="{49931E14-62D8-46EB-9C84-EEC8D6DFA88D}"/>
              </a:ext>
            </a:extLst>
          </p:cNvPr>
          <p:cNvSpPr>
            <a:spLocks xmlns:a="http://schemas.openxmlformats.org/drawingml/2006/main" noGrp="1"/>
          </p:cNvSpPr>
          <p:nvPr/>
        </p:nvSpPr>
        <p:spPr>
          <a:xfrm xmlns:a="http://schemas.openxmlformats.org/drawingml/2006/main">
            <a:off x="685800" y="60960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Qwen2.5 7B + Qwen3 Embedding</a:t>
            </a:r>
          </a:p>
          <a:p xmlns:a="http://schemas.openxmlformats.org/drawingml/2006/main">
            <a:pPr algn="l">
              <a:lnSpc>
                <a:spcPct val="105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Apple M1 Pro, 16 GB · 17 July 2026</a:t>
            </a:r>
          </a:p>
        </p:txBody>
      </p:sp>
    </p:spTree>
    <p:extLst>
      <p:ext uri="{BB962C8B-B14F-4D97-AF65-F5344CB8AC3E}">
        <p14:creationId xmlns:p14="http://schemas.microsoft.com/office/powerpoint/2010/main" val="888816361"/>
      </p:ext>
    </p:extLst>
  </p:cSld>
</p:sld>
</file>

<file path=ppt/slides/slide6.xml><?xml version="1.0" encoding="utf-8"?>
<p:sld xmlns:p="http://schemas.openxmlformats.org/presentationml/2006/main">
  <p:cSld>
    <p:bg>
      <p:bgPr>
        <a:solidFill xmlns:a="http://schemas.openxmlformats.org/drawingml/2006/main">
          <a:srgbClr val="08171A"/>
        </a:solidFill>
      </p:bgPr>
    </p:bg>
    <p:spTree>
      <p:nvGrpSpPr>
        <p:cNvPr id="1" name=""/>
        <p:cNvGrpSpPr/>
        <p:nvPr/>
      </p:nvGrpSpPr>
      <p:grpSpPr>
        <a:xfrm xmlns:a="http://schemas.openxmlformats.org/drawingml/2006/main"/>
      </p:grpSpPr>
      <p:sp>
        <p:nvSpPr>
          <p:cNvPr id="24" name="brand-6">
            <a:extLst xmlns:a="http://schemas.openxmlformats.org/drawingml/2006/main">
              <a:ext uri="{FF2B5EF4-FFF2-40B4-BE49-F238E27FC236}">
                <a16:creationId xmlns:a16="http://schemas.microsoft.com/office/drawing/2014/main" id="{E2F663E5-7305-41EE-A8CC-625490165BCF}"/>
              </a:ext>
            </a:extLst>
          </p:cNvPr>
          <p:cNvSpPr>
            <a:spLocks xmlns:a="http://schemas.openxmlformats.org/drawingml/2006/main" noGrp="1"/>
          </p:cNvSpPr>
          <p:nvPr/>
        </p:nvSpPr>
        <p:spPr>
          <a:xfrm xmlns:a="http://schemas.openxmlformats.org/drawingml/2006/main">
            <a:off x="685800" y="2667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F4F0E8"/>
                </a:solidFill>
                <a:latin typeface="Avenir Next"/>
                <a:ea typeface="Avenir Next"/>
                <a:cs typeface="Avenir Next"/>
              </a:defRPr>
            </a:pPr>
            <a:r>
              <a:rPr sz="1200" b="1" i="0">
                <a:solidFill>
                  <a:srgbClr val="F4F0E8"/>
                </a:solidFill>
                <a:latin typeface="Avenir Next"/>
                <a:ea typeface="Avenir Next"/>
                <a:cs typeface="Avenir Next"/>
              </a:rPr>
              <a:t>TRACEFOLD</a:t>
            </a:r>
          </a:p>
        </p:txBody>
      </p:sp>
      <p:sp>
        <p:nvSpPr>
          <p:cNvPr id="2" name="fold-mark-a-6">
            <a:extLst xmlns:a="http://schemas.openxmlformats.org/drawingml/2006/main">
              <a:ext uri="{FF2B5EF4-FFF2-40B4-BE49-F238E27FC236}">
                <a16:creationId xmlns:a16="http://schemas.microsoft.com/office/drawing/2014/main" id="{49001B32-3D48-4A4C-8EA7-7891214D09BE}"/>
              </a:ext>
            </a:extLst>
          </p:cNvPr>
          <p:cNvSpPr>
            <a:spLocks xmlns:a="http://schemas.openxmlformats.org/drawingml/2006/main" noGrp="1"/>
          </p:cNvSpPr>
          <p:nvPr/>
        </p:nvSpPr>
        <p:spPr>
          <a:xfrm xmlns:a="http://schemas.openxmlformats.org/drawingml/2006/main" rot="5400000">
            <a:off x="457200" y="2571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3" name="fold-mark-b-6">
            <a:extLst xmlns:a="http://schemas.openxmlformats.org/drawingml/2006/main">
              <a:ext uri="{FF2B5EF4-FFF2-40B4-BE49-F238E27FC236}">
                <a16:creationId xmlns:a16="http://schemas.microsoft.com/office/drawing/2014/main" id="{731372D7-39A7-4667-9EEA-34F302A7F81E}"/>
              </a:ext>
            </a:extLst>
          </p:cNvPr>
          <p:cNvSpPr>
            <a:spLocks xmlns:a="http://schemas.openxmlformats.org/drawingml/2006/main" noGrp="1"/>
          </p:cNvSpPr>
          <p:nvPr/>
        </p:nvSpPr>
        <p:spPr>
          <a:xfrm xmlns:a="http://schemas.openxmlformats.org/drawingml/2006/main" rot="16200000">
            <a:off x="457200" y="371475"/>
            <a:ext cx="133350" cy="104775"/>
          </a:xfrm>
          <a:prstGeom xmlns:a="http://schemas.openxmlformats.org/drawingml/2006/main" prst="triangle">
            <a:avLst/>
          </a:prstGeom>
          <a:solidFill xmlns:a="http://schemas.openxmlformats.org/drawingml/2006/main">
            <a:srgbClr val="CF7440"/>
          </a:solidFill>
          <a:ln xmlns:a="http://schemas.openxmlformats.org/drawingml/2006/main" w="0">
            <a:noFill/>
            <a:prstDash val="solid"/>
          </a:ln>
        </p:spPr>
      </p:sp>
      <p:sp>
        <p:nvSpPr>
          <p:cNvPr id="4" name="page-6">
            <a:extLst xmlns:a="http://schemas.openxmlformats.org/drawingml/2006/main">
              <a:ext uri="{FF2B5EF4-FFF2-40B4-BE49-F238E27FC236}">
                <a16:creationId xmlns:a16="http://schemas.microsoft.com/office/drawing/2014/main" id="{D3B6CDA4-B11A-486F-BCD5-24FA67E119C5}"/>
              </a:ext>
            </a:extLst>
          </p:cNvPr>
          <p:cNvSpPr>
            <a:spLocks xmlns:a="http://schemas.openxmlformats.org/drawingml/2006/main" noGrp="1"/>
          </p:cNvSpPr>
          <p:nvPr/>
        </p:nvSpPr>
        <p:spPr>
          <a:xfrm xmlns:a="http://schemas.openxmlformats.org/drawingml/2006/main">
            <a:off x="11239500" y="276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0" i="0">
                <a:solidFill>
                  <a:srgbClr val="AEB18A"/>
                </a:solidFill>
                <a:latin typeface="Avenir Next"/>
                <a:ea typeface="Avenir Next"/>
                <a:cs typeface="Avenir Next"/>
              </a:defRPr>
            </a:pPr>
            <a:r>
              <a:rPr sz="1200" b="0" i="0">
                <a:solidFill>
                  <a:srgbClr val="AEB18A"/>
                </a:solidFill>
                <a:latin typeface="Avenir Next"/>
                <a:ea typeface="Avenir Next"/>
                <a:cs typeface="Avenir Next"/>
              </a:rPr>
              <a:t>06</a:t>
            </a:r>
          </a:p>
        </p:txBody>
      </p:sp>
      <p:sp>
        <p:nvSpPr>
          <p:cNvPr id="5" name="s6-eyebrow">
            <a:extLst xmlns:a="http://schemas.openxmlformats.org/drawingml/2006/main">
              <a:ext uri="{FF2B5EF4-FFF2-40B4-BE49-F238E27FC236}">
                <a16:creationId xmlns:a16="http://schemas.microsoft.com/office/drawing/2014/main" id="{BEC4D04D-4AFA-40B6-BC22-54E153A7B094}"/>
              </a:ext>
            </a:extLst>
          </p:cNvPr>
          <p:cNvSpPr>
            <a:spLocks xmlns:a="http://schemas.openxmlformats.org/drawingml/2006/main" noGrp="1"/>
          </p:cNvSpPr>
          <p:nvPr/>
        </p:nvSpPr>
        <p:spPr>
          <a:xfrm xmlns:a="http://schemas.openxmlformats.org/drawingml/2006/main">
            <a:off x="685800" y="81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1" i="0">
                <a:solidFill>
                  <a:srgbClr val="CF7440"/>
                </a:solidFill>
                <a:latin typeface="Avenir Next"/>
                <a:ea typeface="Avenir Next"/>
                <a:cs typeface="Avenir Next"/>
              </a:defRPr>
            </a:pPr>
            <a:r>
              <a:rPr sz="1200" b="1" i="0">
                <a:solidFill>
                  <a:srgbClr val="CF7440"/>
                </a:solidFill>
                <a:latin typeface="Avenir Next"/>
                <a:ea typeface="Avenir Next"/>
                <a:cs typeface="Avenir Next"/>
              </a:rPr>
              <a:t>WHY TRACEFOLD</a:t>
            </a:r>
          </a:p>
        </p:txBody>
      </p:sp>
      <p:sp>
        <p:nvSpPr>
          <p:cNvPr id="6" name="s6-title">
            <a:extLst xmlns:a="http://schemas.openxmlformats.org/drawingml/2006/main">
              <a:ext uri="{FF2B5EF4-FFF2-40B4-BE49-F238E27FC236}">
                <a16:creationId xmlns:a16="http://schemas.microsoft.com/office/drawing/2014/main" id="{84F554ED-A8F3-450A-BDEB-9E04E163D2F4}"/>
              </a:ext>
            </a:extLst>
          </p:cNvPr>
          <p:cNvSpPr>
            <a:spLocks xmlns:a="http://schemas.openxmlformats.org/drawingml/2006/main" noGrp="1"/>
          </p:cNvSpPr>
          <p:nvPr/>
        </p:nvSpPr>
        <p:spPr>
          <a:xfrm xmlns:a="http://schemas.openxmlformats.org/drawingml/2006/main">
            <a:off x="685800" y="1123950"/>
            <a:ext cx="7239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050" b="0" i="0">
                <a:solidFill>
                  <a:srgbClr val="F4F0E8"/>
                </a:solidFill>
                <a:latin typeface="Georgia"/>
                <a:ea typeface="Georgia"/>
                <a:cs typeface="Georgia"/>
              </a:defRPr>
            </a:pPr>
            <a:r>
              <a:rPr sz="4050" b="0" i="0">
                <a:solidFill>
                  <a:srgbClr val="F4F0E8"/>
                </a:solidFill>
                <a:latin typeface="Georgia"/>
                <a:ea typeface="Georgia"/>
                <a:cs typeface="Georgia"/>
              </a:rPr>
              <a:t>Local by design.</a:t>
            </a:r>
          </a:p>
          <a:p xmlns:a="http://schemas.openxmlformats.org/drawingml/2006/main">
            <a:pPr algn="l">
              <a:lnSpc>
                <a:spcPct val="90000"/>
              </a:lnSpc>
              <a:buNone/>
              <a:defRPr sz="4050" b="0" i="0">
                <a:solidFill>
                  <a:srgbClr val="F4F0E8"/>
                </a:solidFill>
                <a:latin typeface="Georgia"/>
                <a:ea typeface="Georgia"/>
                <a:cs typeface="Georgia"/>
              </a:defRPr>
            </a:pPr>
            <a:r>
              <a:rPr sz="4050" b="0" i="0">
                <a:solidFill>
                  <a:srgbClr val="F4F0E8"/>
                </a:solidFill>
                <a:latin typeface="Georgia"/>
                <a:ea typeface="Georgia"/>
                <a:cs typeface="Georgia"/>
              </a:rPr>
              <a:t>Verifiable by default.</a:t>
            </a:r>
          </a:p>
        </p:txBody>
      </p:sp>
      <p:sp>
        <p:nvSpPr>
          <p:cNvPr id="7" name="s6-intro">
            <a:extLst xmlns:a="http://schemas.openxmlformats.org/drawingml/2006/main">
              <a:ext uri="{FF2B5EF4-FFF2-40B4-BE49-F238E27FC236}">
                <a16:creationId xmlns:a16="http://schemas.microsoft.com/office/drawing/2014/main" id="{39146971-0F24-4C44-9BB9-28C0B86C3C2E}"/>
              </a:ext>
            </a:extLst>
          </p:cNvPr>
          <p:cNvSpPr>
            <a:spLocks xmlns:a="http://schemas.openxmlformats.org/drawingml/2006/main" noGrp="1"/>
          </p:cNvSpPr>
          <p:nvPr/>
        </p:nvSpPr>
        <p:spPr>
          <a:xfrm xmlns:a="http://schemas.openxmlformats.org/drawingml/2006/main">
            <a:off x="685800" y="2533650"/>
            <a:ext cx="685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i="0">
                <a:solidFill>
                  <a:srgbClr val="AEB18A"/>
                </a:solidFill>
                <a:latin typeface="Avenir Next"/>
                <a:ea typeface="Avenir Next"/>
                <a:cs typeface="Avenir Next"/>
              </a:defRPr>
            </a:pPr>
            <a:r>
              <a:rPr sz="1800" b="0" i="0">
                <a:solidFill>
                  <a:srgbClr val="AEB18A"/>
                </a:solidFill>
                <a:latin typeface="Avenir Next"/>
                <a:ea typeface="Avenir Next"/>
                <a:cs typeface="Avenir Next"/>
              </a:rPr>
              <a:t>Tracefold turns the assignment’s RAG pipeline into a product people can trust.</a:t>
            </a:r>
          </a:p>
        </p:txBody>
      </p:sp>
      <p:sp>
        <p:nvSpPr>
          <p:cNvPr id="8" name="s6-dot-0">
            <a:extLst xmlns:a="http://schemas.openxmlformats.org/drawingml/2006/main">
              <a:ext uri="{FF2B5EF4-FFF2-40B4-BE49-F238E27FC236}">
                <a16:creationId xmlns:a16="http://schemas.microsoft.com/office/drawing/2014/main" id="{9BDC7E11-573C-4CDD-BA33-5F8E0734C523}"/>
              </a:ext>
            </a:extLst>
          </p:cNvPr>
          <p:cNvSpPr>
            <a:spLocks xmlns:a="http://schemas.openxmlformats.org/drawingml/2006/main" noGrp="1"/>
          </p:cNvSpPr>
          <p:nvPr/>
        </p:nvSpPr>
        <p:spPr>
          <a:xfrm xmlns:a="http://schemas.openxmlformats.org/drawingml/2006/main">
            <a:off x="685800" y="3467100"/>
            <a:ext cx="114300" cy="114300"/>
          </a:xfrm>
          <a:prstGeom xmlns:a="http://schemas.openxmlformats.org/drawingml/2006/main" prst="ellipse">
            <a:avLst/>
          </a:prstGeom>
          <a:solidFill xmlns:a="http://schemas.openxmlformats.org/drawingml/2006/main">
            <a:srgbClr val="CF7440"/>
          </a:solidFill>
          <a:ln xmlns:a="http://schemas.openxmlformats.org/drawingml/2006/main" w="0">
            <a:noFill/>
            <a:prstDash val="solid"/>
          </a:ln>
        </p:spPr>
      </p:sp>
      <p:sp>
        <p:nvSpPr>
          <p:cNvPr id="9" name="s6-reason-head-0">
            <a:extLst xmlns:a="http://schemas.openxmlformats.org/drawingml/2006/main">
              <a:ext uri="{FF2B5EF4-FFF2-40B4-BE49-F238E27FC236}">
                <a16:creationId xmlns:a16="http://schemas.microsoft.com/office/drawing/2014/main" id="{5A400903-871E-42F6-84A9-7C5A8C68D82B}"/>
              </a:ext>
            </a:extLst>
          </p:cNvPr>
          <p:cNvSpPr>
            <a:spLocks xmlns:a="http://schemas.openxmlformats.org/drawingml/2006/main" noGrp="1"/>
          </p:cNvSpPr>
          <p:nvPr/>
        </p:nvSpPr>
        <p:spPr>
          <a:xfrm xmlns:a="http://schemas.openxmlformats.org/drawingml/2006/main">
            <a:off x="971550" y="3438525"/>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i="0">
                <a:solidFill>
                  <a:srgbClr val="F4F0E8"/>
                </a:solidFill>
                <a:latin typeface="Avenir Next"/>
                <a:ea typeface="Avenir Next"/>
                <a:cs typeface="Avenir Next"/>
              </a:defRPr>
            </a:pPr>
            <a:r>
              <a:rPr sz="1350" b="1" i="0">
                <a:solidFill>
                  <a:srgbClr val="F4F0E8"/>
                </a:solidFill>
                <a:latin typeface="Avenir Next"/>
                <a:ea typeface="Avenir Next"/>
                <a:cs typeface="Avenir Next"/>
              </a:rPr>
              <a:t>LOCAL MODELS</a:t>
            </a:r>
          </a:p>
        </p:txBody>
      </p:sp>
      <p:sp>
        <p:nvSpPr>
          <p:cNvPr id="10" name="s6-reason-body-0">
            <a:extLst xmlns:a="http://schemas.openxmlformats.org/drawingml/2006/main">
              <a:ext uri="{FF2B5EF4-FFF2-40B4-BE49-F238E27FC236}">
                <a16:creationId xmlns:a16="http://schemas.microsoft.com/office/drawing/2014/main" id="{214FC197-EF45-4B69-88CD-B57D4C30692B}"/>
              </a:ext>
            </a:extLst>
          </p:cNvPr>
          <p:cNvSpPr>
            <a:spLocks xmlns:a="http://schemas.openxmlformats.org/drawingml/2006/main" noGrp="1"/>
          </p:cNvSpPr>
          <p:nvPr/>
        </p:nvSpPr>
        <p:spPr>
          <a:xfrm xmlns:a="http://schemas.openxmlformats.org/drawingml/2006/main">
            <a:off x="3048000" y="34385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Documents and prompts stay on the device.</a:t>
            </a:r>
          </a:p>
        </p:txBody>
      </p:sp>
      <p:sp>
        <p:nvSpPr>
          <p:cNvPr id="11" name="s6-dot-1">
            <a:extLst xmlns:a="http://schemas.openxmlformats.org/drawingml/2006/main">
              <a:ext uri="{FF2B5EF4-FFF2-40B4-BE49-F238E27FC236}">
                <a16:creationId xmlns:a16="http://schemas.microsoft.com/office/drawing/2014/main" id="{E0AD77DE-8CA0-4BCB-88E6-2BF9DB47A6F1}"/>
              </a:ext>
            </a:extLst>
          </p:cNvPr>
          <p:cNvSpPr>
            <a:spLocks xmlns:a="http://schemas.openxmlformats.org/drawingml/2006/main" noGrp="1"/>
          </p:cNvSpPr>
          <p:nvPr/>
        </p:nvSpPr>
        <p:spPr>
          <a:xfrm xmlns:a="http://schemas.openxmlformats.org/drawingml/2006/main">
            <a:off x="685800" y="4086225"/>
            <a:ext cx="114300" cy="114300"/>
          </a:xfrm>
          <a:prstGeom xmlns:a="http://schemas.openxmlformats.org/drawingml/2006/main" prst="ellipse">
            <a:avLst/>
          </a:prstGeom>
          <a:solidFill xmlns:a="http://schemas.openxmlformats.org/drawingml/2006/main">
            <a:srgbClr val="CF7440"/>
          </a:solidFill>
          <a:ln xmlns:a="http://schemas.openxmlformats.org/drawingml/2006/main" w="0">
            <a:noFill/>
            <a:prstDash val="solid"/>
          </a:ln>
        </p:spPr>
      </p:sp>
      <p:sp>
        <p:nvSpPr>
          <p:cNvPr id="12" name="s6-reason-head-1">
            <a:extLst xmlns:a="http://schemas.openxmlformats.org/drawingml/2006/main">
              <a:ext uri="{FF2B5EF4-FFF2-40B4-BE49-F238E27FC236}">
                <a16:creationId xmlns:a16="http://schemas.microsoft.com/office/drawing/2014/main" id="{7D3ED9AE-689E-4502-891B-27DA7FBB4EC3}"/>
              </a:ext>
            </a:extLst>
          </p:cNvPr>
          <p:cNvSpPr>
            <a:spLocks xmlns:a="http://schemas.openxmlformats.org/drawingml/2006/main" noGrp="1"/>
          </p:cNvSpPr>
          <p:nvPr/>
        </p:nvSpPr>
        <p:spPr>
          <a:xfrm xmlns:a="http://schemas.openxmlformats.org/drawingml/2006/main">
            <a:off x="971550" y="405765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i="0">
                <a:solidFill>
                  <a:srgbClr val="F4F0E8"/>
                </a:solidFill>
                <a:latin typeface="Avenir Next"/>
                <a:ea typeface="Avenir Next"/>
                <a:cs typeface="Avenir Next"/>
              </a:defRPr>
            </a:pPr>
            <a:r>
              <a:rPr sz="1350" b="1" i="0">
                <a:solidFill>
                  <a:srgbClr val="F4F0E8"/>
                </a:solidFill>
                <a:latin typeface="Avenir Next"/>
                <a:ea typeface="Avenir Next"/>
                <a:cs typeface="Avenir Next"/>
              </a:rPr>
              <a:t>EVIDENCE GATE</a:t>
            </a:r>
          </a:p>
        </p:txBody>
      </p:sp>
      <p:sp>
        <p:nvSpPr>
          <p:cNvPr id="13" name="s6-reason-body-1">
            <a:extLst xmlns:a="http://schemas.openxmlformats.org/drawingml/2006/main">
              <a:ext uri="{FF2B5EF4-FFF2-40B4-BE49-F238E27FC236}">
                <a16:creationId xmlns:a16="http://schemas.microsoft.com/office/drawing/2014/main" id="{1B06CD71-1BE5-48DE-B206-568AB1BC82DB}"/>
              </a:ext>
            </a:extLst>
          </p:cNvPr>
          <p:cNvSpPr>
            <a:spLocks xmlns:a="http://schemas.openxmlformats.org/drawingml/2006/main" noGrp="1"/>
          </p:cNvSpPr>
          <p:nvPr/>
        </p:nvSpPr>
        <p:spPr>
          <a:xfrm xmlns:a="http://schemas.openxmlformats.org/drawingml/2006/main">
            <a:off x="3048000" y="4057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Weak retrieval stops generation before it can guess.</a:t>
            </a:r>
          </a:p>
        </p:txBody>
      </p:sp>
      <p:sp>
        <p:nvSpPr>
          <p:cNvPr id="14" name="s6-dot-2">
            <a:extLst xmlns:a="http://schemas.openxmlformats.org/drawingml/2006/main">
              <a:ext uri="{FF2B5EF4-FFF2-40B4-BE49-F238E27FC236}">
                <a16:creationId xmlns:a16="http://schemas.microsoft.com/office/drawing/2014/main" id="{273A89DC-896C-4A64-B129-A5E54B3AFF42}"/>
              </a:ext>
            </a:extLst>
          </p:cNvPr>
          <p:cNvSpPr>
            <a:spLocks xmlns:a="http://schemas.openxmlformats.org/drawingml/2006/main" noGrp="1"/>
          </p:cNvSpPr>
          <p:nvPr/>
        </p:nvSpPr>
        <p:spPr>
          <a:xfrm xmlns:a="http://schemas.openxmlformats.org/drawingml/2006/main">
            <a:off x="685800" y="4705350"/>
            <a:ext cx="114300" cy="114300"/>
          </a:xfrm>
          <a:prstGeom xmlns:a="http://schemas.openxmlformats.org/drawingml/2006/main" prst="ellipse">
            <a:avLst/>
          </a:prstGeom>
          <a:solidFill xmlns:a="http://schemas.openxmlformats.org/drawingml/2006/main">
            <a:srgbClr val="CF7440"/>
          </a:solidFill>
          <a:ln xmlns:a="http://schemas.openxmlformats.org/drawingml/2006/main" w="0">
            <a:noFill/>
            <a:prstDash val="solid"/>
          </a:ln>
        </p:spPr>
      </p:sp>
      <p:sp>
        <p:nvSpPr>
          <p:cNvPr id="15" name="s6-reason-head-2">
            <a:extLst xmlns:a="http://schemas.openxmlformats.org/drawingml/2006/main">
              <a:ext uri="{FF2B5EF4-FFF2-40B4-BE49-F238E27FC236}">
                <a16:creationId xmlns:a16="http://schemas.microsoft.com/office/drawing/2014/main" id="{1EF1228E-91F7-4B01-8145-E2627AB5CA2E}"/>
              </a:ext>
            </a:extLst>
          </p:cNvPr>
          <p:cNvSpPr>
            <a:spLocks xmlns:a="http://schemas.openxmlformats.org/drawingml/2006/main" noGrp="1"/>
          </p:cNvSpPr>
          <p:nvPr/>
        </p:nvSpPr>
        <p:spPr>
          <a:xfrm xmlns:a="http://schemas.openxmlformats.org/drawingml/2006/main">
            <a:off x="971550" y="4676775"/>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i="0">
                <a:solidFill>
                  <a:srgbClr val="F4F0E8"/>
                </a:solidFill>
                <a:latin typeface="Avenir Next"/>
                <a:ea typeface="Avenir Next"/>
                <a:cs typeface="Avenir Next"/>
              </a:defRPr>
            </a:pPr>
            <a:r>
              <a:rPr sz="1350" b="1" i="0">
                <a:solidFill>
                  <a:srgbClr val="F4F0E8"/>
                </a:solidFill>
                <a:latin typeface="Avenir Next"/>
                <a:ea typeface="Avenir Next"/>
                <a:cs typeface="Avenir Next"/>
              </a:rPr>
              <a:t>OPEN CITATIONS</a:t>
            </a:r>
          </a:p>
        </p:txBody>
      </p:sp>
      <p:sp>
        <p:nvSpPr>
          <p:cNvPr id="16" name="s6-reason-body-2">
            <a:extLst xmlns:a="http://schemas.openxmlformats.org/drawingml/2006/main">
              <a:ext uri="{FF2B5EF4-FFF2-40B4-BE49-F238E27FC236}">
                <a16:creationId xmlns:a16="http://schemas.microsoft.com/office/drawing/2014/main" id="{A05E482A-2169-466E-868C-809494712B67}"/>
              </a:ext>
            </a:extLst>
          </p:cNvPr>
          <p:cNvSpPr>
            <a:spLocks xmlns:a="http://schemas.openxmlformats.org/drawingml/2006/main" noGrp="1"/>
          </p:cNvSpPr>
          <p:nvPr/>
        </p:nvSpPr>
        <p:spPr>
          <a:xfrm xmlns:a="http://schemas.openxmlformats.org/drawingml/2006/main">
            <a:off x="3048000" y="467677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Every answer links back to an exact stored passage.</a:t>
            </a:r>
          </a:p>
        </p:txBody>
      </p:sp>
      <p:sp>
        <p:nvSpPr>
          <p:cNvPr id="17" name="s6-dot-3">
            <a:extLst xmlns:a="http://schemas.openxmlformats.org/drawingml/2006/main">
              <a:ext uri="{FF2B5EF4-FFF2-40B4-BE49-F238E27FC236}">
                <a16:creationId xmlns:a16="http://schemas.microsoft.com/office/drawing/2014/main" id="{72476FB5-AC50-4034-92D9-170CFB845C57}"/>
              </a:ext>
            </a:extLst>
          </p:cNvPr>
          <p:cNvSpPr>
            <a:spLocks xmlns:a="http://schemas.openxmlformats.org/drawingml/2006/main" noGrp="1"/>
          </p:cNvSpPr>
          <p:nvPr/>
        </p:nvSpPr>
        <p:spPr>
          <a:xfrm xmlns:a="http://schemas.openxmlformats.org/drawingml/2006/main">
            <a:off x="685800" y="5324475"/>
            <a:ext cx="114300" cy="114300"/>
          </a:xfrm>
          <a:prstGeom xmlns:a="http://schemas.openxmlformats.org/drawingml/2006/main" prst="ellipse">
            <a:avLst/>
          </a:prstGeom>
          <a:solidFill xmlns:a="http://schemas.openxmlformats.org/drawingml/2006/main">
            <a:srgbClr val="CF7440"/>
          </a:solidFill>
          <a:ln xmlns:a="http://schemas.openxmlformats.org/drawingml/2006/main" w="0">
            <a:noFill/>
            <a:prstDash val="solid"/>
          </a:ln>
        </p:spPr>
      </p:sp>
      <p:sp>
        <p:nvSpPr>
          <p:cNvPr id="18" name="s6-reason-head-3">
            <a:extLst xmlns:a="http://schemas.openxmlformats.org/drawingml/2006/main">
              <a:ext uri="{FF2B5EF4-FFF2-40B4-BE49-F238E27FC236}">
                <a16:creationId xmlns:a16="http://schemas.microsoft.com/office/drawing/2014/main" id="{B816FE10-899D-4C9B-BA92-656175BADB8C}"/>
              </a:ext>
            </a:extLst>
          </p:cNvPr>
          <p:cNvSpPr>
            <a:spLocks xmlns:a="http://schemas.openxmlformats.org/drawingml/2006/main" noGrp="1"/>
          </p:cNvSpPr>
          <p:nvPr/>
        </p:nvSpPr>
        <p:spPr>
          <a:xfrm xmlns:a="http://schemas.openxmlformats.org/drawingml/2006/main">
            <a:off x="971550" y="5295900"/>
            <a:ext cx="2076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i="0">
                <a:solidFill>
                  <a:srgbClr val="F4F0E8"/>
                </a:solidFill>
                <a:latin typeface="Avenir Next"/>
                <a:ea typeface="Avenir Next"/>
                <a:cs typeface="Avenir Next"/>
              </a:defRPr>
            </a:pPr>
            <a:r>
              <a:rPr sz="1350" b="1" i="0">
                <a:solidFill>
                  <a:srgbClr val="F4F0E8"/>
                </a:solidFill>
                <a:latin typeface="Avenir Next"/>
                <a:ea typeface="Avenir Next"/>
                <a:cs typeface="Avenir Next"/>
              </a:rPr>
              <a:t>REPRODUCIBLE EVAL</a:t>
            </a:r>
          </a:p>
        </p:txBody>
      </p:sp>
      <p:sp>
        <p:nvSpPr>
          <p:cNvPr id="19" name="s6-reason-body-3">
            <a:extLst xmlns:a="http://schemas.openxmlformats.org/drawingml/2006/main">
              <a:ext uri="{FF2B5EF4-FFF2-40B4-BE49-F238E27FC236}">
                <a16:creationId xmlns:a16="http://schemas.microsoft.com/office/drawing/2014/main" id="{71FD59E8-BB91-4361-9054-7E971B6DBC81}"/>
              </a:ext>
            </a:extLst>
          </p:cNvPr>
          <p:cNvSpPr>
            <a:spLocks xmlns:a="http://schemas.openxmlformats.org/drawingml/2006/main" noGrp="1"/>
          </p:cNvSpPr>
          <p:nvPr/>
        </p:nvSpPr>
        <p:spPr>
          <a:xfrm xmlns:a="http://schemas.openxmlformats.org/drawingml/2006/main">
            <a:off x="3048000" y="52959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i="0">
                <a:solidFill>
                  <a:srgbClr val="AEB18A"/>
                </a:solidFill>
                <a:latin typeface="Avenir Next"/>
                <a:ea typeface="Avenir Next"/>
                <a:cs typeface="Avenir Next"/>
              </a:defRPr>
            </a:pPr>
            <a:r>
              <a:rPr sz="1350" b="0" i="0">
                <a:solidFill>
                  <a:srgbClr val="AEB18A"/>
                </a:solidFill>
                <a:latin typeface="Avenir Next"/>
                <a:ea typeface="Avenir Next"/>
                <a:cs typeface="Avenir Next"/>
              </a:rPr>
              <a:t>Targets and measured results remain visibly separate.</a:t>
            </a:r>
          </a:p>
        </p:txBody>
      </p:sp>
      <p:sp>
        <p:nvSpPr>
          <p:cNvPr id="20" name="s6-phone-shadow">
            <a:extLst xmlns:a="http://schemas.openxmlformats.org/drawingml/2006/main">
              <a:ext uri="{FF2B5EF4-FFF2-40B4-BE49-F238E27FC236}">
                <a16:creationId xmlns:a16="http://schemas.microsoft.com/office/drawing/2014/main" id="{58BDAE7E-C36F-4E4D-A0F4-EECC55CC01F7}"/>
              </a:ext>
            </a:extLst>
          </p:cNvPr>
          <p:cNvSpPr>
            <a:spLocks xmlns:a="http://schemas.openxmlformats.org/drawingml/2006/main" noGrp="1"/>
          </p:cNvSpPr>
          <p:nvPr/>
        </p:nvSpPr>
        <p:spPr>
          <a:xfrm xmlns:a="http://schemas.openxmlformats.org/drawingml/2006/main">
            <a:off x="8839200" y="647700"/>
            <a:ext cx="2533650" cy="5486400"/>
          </a:xfrm>
          <a:prstGeom xmlns:a="http://schemas.openxmlformats.org/drawingml/2006/main" prst="roundRect">
            <a:avLst>
              <a:gd name="adj" fmla="val 10526"/>
            </a:avLst>
          </a:prstGeom>
          <a:solidFill xmlns:a="http://schemas.openxmlformats.org/drawingml/2006/main">
            <a:srgbClr val="020809"/>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9"/>
          <a:fontRef xmlns:a="http://schemas.openxmlformats.org/drawingml/2006/main" idx="major"/>
        </p:style>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2bb7ea7d83d4c60"/>
          <a:srcRect xmlns:a="http://schemas.openxmlformats.org/drawingml/2006/main" l="29" t="0" r="29" b="0"/>
          <a:stretch xmlns:a="http://schemas.openxmlformats.org/drawingml/2006/main">
            <a:fillRect l="0" t="0" r="0" b="0"/>
          </a:stretch>
        </p:blipFill>
        <p:spPr>
          <a:xfrm xmlns:a="http://schemas.openxmlformats.org/drawingml/2006/main">
            <a:off x="8896350" y="590550"/>
            <a:ext cx="2419350" cy="5238750"/>
          </a:xfrm>
          <a:prstGeom xmlns:a="http://schemas.openxmlformats.org/drawingml/2006/main" prst="roundRect">
            <a:avLst>
              <a:gd name="adj" fmla="val 9449"/>
            </a:avLst>
          </a:prstGeom>
        </p:spPr>
      </p:pic>
      <p:sp>
        <p:nvSpPr>
          <p:cNvPr id="22" name="s6-bottom-rule">
            <a:extLst xmlns:a="http://schemas.openxmlformats.org/drawingml/2006/main">
              <a:ext uri="{FF2B5EF4-FFF2-40B4-BE49-F238E27FC236}">
                <a16:creationId xmlns:a16="http://schemas.microsoft.com/office/drawing/2014/main" id="{E4B0F977-BD5C-4B4C-9CE7-7B6F062BABBB}"/>
              </a:ext>
            </a:extLst>
          </p:cNvPr>
          <p:cNvSpPr>
            <a:spLocks xmlns:a="http://schemas.openxmlformats.org/drawingml/2006/main" noGrp="1"/>
          </p:cNvSpPr>
          <p:nvPr/>
        </p:nvSpPr>
        <p:spPr>
          <a:xfrm xmlns:a="http://schemas.openxmlformats.org/drawingml/2006/main">
            <a:off x="685800" y="6219825"/>
            <a:ext cx="7334250" cy="28575"/>
          </a:xfrm>
          <a:prstGeom xmlns:a="http://schemas.openxmlformats.org/drawingml/2006/main" prst="rect">
            <a:avLst/>
          </a:prstGeom>
          <a:solidFill xmlns:a="http://schemas.openxmlformats.org/drawingml/2006/main">
            <a:srgbClr val="CF7440"/>
          </a:solidFill>
          <a:ln xmlns:a="http://schemas.openxmlformats.org/drawingml/2006/main" w="0">
            <a:noFill/>
            <a:prstDash val="solid"/>
          </a:ln>
        </p:spPr>
      </p:sp>
      <p:sp>
        <p:nvSpPr>
          <p:cNvPr id="23" name="s6-final">
            <a:extLst xmlns:a="http://schemas.openxmlformats.org/drawingml/2006/main">
              <a:ext uri="{FF2B5EF4-FFF2-40B4-BE49-F238E27FC236}">
                <a16:creationId xmlns:a16="http://schemas.microsoft.com/office/drawing/2014/main" id="{02E4E5A2-A773-46B6-94CA-FAFB81F4C144}"/>
              </a:ext>
            </a:extLst>
          </p:cNvPr>
          <p:cNvSpPr>
            <a:spLocks xmlns:a="http://schemas.openxmlformats.org/drawingml/2006/main" noGrp="1"/>
          </p:cNvSpPr>
          <p:nvPr/>
        </p:nvSpPr>
        <p:spPr>
          <a:xfrm xmlns:a="http://schemas.openxmlformats.org/drawingml/2006/main">
            <a:off x="685800" y="6381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i="0">
                <a:solidFill>
                  <a:srgbClr val="F4F0E8"/>
                </a:solidFill>
                <a:latin typeface="Avenir Next"/>
                <a:ea typeface="Avenir Next"/>
                <a:cs typeface="Avenir Next"/>
              </a:defRPr>
            </a:pPr>
            <a:r>
              <a:rPr sz="1725" b="1" i="0">
                <a:solidFill>
                  <a:srgbClr val="F4F0E8"/>
                </a:solidFill>
                <a:latin typeface="Avenir Next"/>
                <a:ea typeface="Avenir Next"/>
                <a:cs typeface="Avenir Next"/>
              </a:rPr>
              <a:t>Answers you can trace.</a:t>
            </a:r>
          </a:p>
        </p:txBody>
      </p:sp>
    </p:spTree>
    <p:extLst>
      <p:ext uri="{BB962C8B-B14F-4D97-AF65-F5344CB8AC3E}">
        <p14:creationId xmlns:p14="http://schemas.microsoft.com/office/powerpoint/2010/main" val="229437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2026-07-17T12:18:52.0290000Z</dcterms:created>
  <dcterms:modified xsi:type="dcterms:W3CDTF">2026-07-17T12:18:52.0290000Z</dcterms:modified>
</coreProperties>
</file>